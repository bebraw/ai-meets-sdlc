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Default Extension="fntdata" ContentType="application/x-fontdata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ae4f9e0ee19446e" /><Relationship Type="http://schemas.openxmlformats.org/officeDocument/2006/relationships/extended-properties" Target="/docProps/app.xml" Id="R2eaa6efb0744400d" /><Relationship Type="http://schemas.openxmlformats.org/officeDocument/2006/relationships/officeDocument" Target="/ppt/presentation.xml" Id="R79ede1afc81342c9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68a210fddf5d49f2"/>
  </p:sldMasterIdLst>
  <p:notesMasterIdLst>
    <p:notesMasterId xmlns:r="http://schemas.openxmlformats.org/officeDocument/2006/relationships" r:id="Rccdccbc7a89e4f77"/>
  </p:notesMasterIdLst>
  <p:sldIdLst>
    <p:sldId xmlns:r="http://schemas.openxmlformats.org/officeDocument/2006/relationships" id="256" r:id="R45abfa7e67ab4af5"/>
    <p:sldId xmlns:r="http://schemas.openxmlformats.org/officeDocument/2006/relationships" id="257" r:id="R5108edaad3664c86"/>
    <p:sldId xmlns:r="http://schemas.openxmlformats.org/officeDocument/2006/relationships" id="258" r:id="R7a42b1b4ff654842"/>
    <p:sldId xmlns:r="http://schemas.openxmlformats.org/officeDocument/2006/relationships" id="259" r:id="R68ffd70ff7f94e33"/>
    <p:sldId xmlns:r="http://schemas.openxmlformats.org/officeDocument/2006/relationships" id="260" r:id="R88c42ce47cef4409"/>
    <p:sldId xmlns:r="http://schemas.openxmlformats.org/officeDocument/2006/relationships" id="261" r:id="Raededaf842b141ec"/>
    <p:sldId xmlns:r="http://schemas.openxmlformats.org/officeDocument/2006/relationships" id="262" r:id="R92215e42f6224d57"/>
    <p:sldId xmlns:r="http://schemas.openxmlformats.org/officeDocument/2006/relationships" id="263" r:id="R36c418496a0047d4"/>
    <p:sldId xmlns:r="http://schemas.openxmlformats.org/officeDocument/2006/relationships" id="264" r:id="Rae9b1e85b5d64c43"/>
    <p:sldId xmlns:r="http://schemas.openxmlformats.org/officeDocument/2006/relationships" id="265" r:id="Rac5511f0edac426e"/>
    <p:sldId xmlns:r="http://schemas.openxmlformats.org/officeDocument/2006/relationships" id="266" r:id="Rc28011f5bba64c31"/>
    <p:sldId xmlns:r="http://schemas.openxmlformats.org/officeDocument/2006/relationships" id="267" r:id="R1004ae04482b47e0"/>
  </p:sldIdLst>
  <p:sldSz cx="18288000" cy="10287000"/>
  <p:notesSz cx="6858000" cy="9144000"/>
  <p:embeddedFontLst>
    <p:embeddedFont>
      <p:font typeface="Finlandica Headline"/>
      <p:bold xmlns:ns1="http://schemas.openxmlformats.org/officeDocument/2006/relationships" ns1:id="rIdEmbedded-headline-bold"/>
    </p:embeddedFont>
    <p:embeddedFont>
      <p:font typeface="Finlandica Text"/>
      <p:regular xmlns:ns2="http://schemas.openxmlformats.org/officeDocument/2006/relationships" ns2:id="rIdEmbedded-text-regular"/>
      <p:bold xmlns:ns3="http://schemas.openxmlformats.org/officeDocument/2006/relationships" ns3:id="rIdEmbedded-text-bold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Type="http://schemas.openxmlformats.org/officeDocument/2006/relationships/theme" Target="/ppt/theme/theme1.xml" Id="R654833c570024d57"/><Relationship Type="http://schemas.openxmlformats.org/officeDocument/2006/relationships/slideMaster" Target="/ppt/slideMasters/slideMaster1.xml" Id="R68a210fddf5d49f2"/><Relationship Type="http://schemas.openxmlformats.org/officeDocument/2006/relationships/notesMaster" Target="/ppt/notesMasters/notesMaster1.xml" Id="Rccdccbc7a89e4f77"/><Relationship Type="http://schemas.openxmlformats.org/officeDocument/2006/relationships/presProps" Target="/ppt/presProps.xml" Id="R49f219b8026745fe"/><Relationship Type="http://schemas.openxmlformats.org/officeDocument/2006/relationships/tableStyles" Target="/ppt/tableStyles.xml" Id="Rf8d82240659b45dc"/><Relationship Type="http://schemas.openxmlformats.org/officeDocument/2006/relationships/slide" Target="/ppt/slides/slide1.xml" Id="R45abfa7e67ab4af5"/><Relationship Type="http://schemas.openxmlformats.org/officeDocument/2006/relationships/slide" Target="/ppt/slides/slide2.xml" Id="R5108edaad3664c86"/><Relationship Type="http://schemas.openxmlformats.org/officeDocument/2006/relationships/slide" Target="/ppt/slides/slide3.xml" Id="R7a42b1b4ff654842"/><Relationship Type="http://schemas.openxmlformats.org/officeDocument/2006/relationships/slide" Target="/ppt/slides/slide4.xml" Id="R68ffd70ff7f94e33"/><Relationship Type="http://schemas.openxmlformats.org/officeDocument/2006/relationships/slide" Target="/ppt/slides/slide5.xml" Id="R88c42ce47cef4409"/><Relationship Type="http://schemas.openxmlformats.org/officeDocument/2006/relationships/slide" Target="/ppt/slides/slide6.xml" Id="Raededaf842b141ec"/><Relationship Type="http://schemas.openxmlformats.org/officeDocument/2006/relationships/slide" Target="/ppt/slides/slide7.xml" Id="R92215e42f6224d57"/><Relationship Type="http://schemas.openxmlformats.org/officeDocument/2006/relationships/slide" Target="/ppt/slides/slide8.xml" Id="R36c418496a0047d4"/><Relationship Type="http://schemas.openxmlformats.org/officeDocument/2006/relationships/slide" Target="/ppt/slides/slide9.xml" Id="Rae9b1e85b5d64c43"/><Relationship Type="http://schemas.openxmlformats.org/officeDocument/2006/relationships/slide" Target="/ppt/slides/slide10.xml" Id="Rac5511f0edac426e"/><Relationship Type="http://schemas.openxmlformats.org/officeDocument/2006/relationships/slide" Target="/ppt/slides/slide11.xml" Id="Rc28011f5bba64c31"/><Relationship Type="http://schemas.openxmlformats.org/officeDocument/2006/relationships/slide" Target="/ppt/slides/slide12.xml" Id="R1004ae04482b47e0"/><Relationship Id="rIdEmbedded-headline-bold" Type="http://schemas.openxmlformats.org/officeDocument/2006/relationships/font" Target="fonts/headline-bold.fntdata"/><Relationship Id="rIdEmbedded-text-regular" Type="http://schemas.openxmlformats.org/officeDocument/2006/relationships/font" Target="fonts/text-regular.fntdata"/><Relationship Id="rIdEmbedded-text-bold" Type="http://schemas.openxmlformats.org/officeDocument/2006/relationships/font" Target="fonts/text-bold.fntdata"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b714bef770a469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6d8a6c62ba148c7" /><Relationship Type="http://schemas.openxmlformats.org/officeDocument/2006/relationships/notesMaster" Target="/ppt/notesMasters/notesMaster1.xml" Id="Redb43e26167e41d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ececa2b46d44a97" /><Relationship Type="http://schemas.openxmlformats.org/officeDocument/2006/relationships/notesMaster" Target="/ppt/notesMasters/notesMaster1.xml" Id="Rfa5de40b341d486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fd6405396934dff" /><Relationship Type="http://schemas.openxmlformats.org/officeDocument/2006/relationships/notesMaster" Target="/ppt/notesMasters/notesMaster1.xml" Id="R497c62ede6254b8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ac661c9166b49a1" /><Relationship Type="http://schemas.openxmlformats.org/officeDocument/2006/relationships/notesMaster" Target="/ppt/notesMasters/notesMaster1.xml" Id="Rf47adf2cab1f4fd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ec6fecc3fed42fd" /><Relationship Type="http://schemas.openxmlformats.org/officeDocument/2006/relationships/notesMaster" Target="/ppt/notesMasters/notesMaster1.xml" Id="R9c33b3bda5ba499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63caf9d3a3f4094" /><Relationship Type="http://schemas.openxmlformats.org/officeDocument/2006/relationships/notesMaster" Target="/ppt/notesMasters/notesMaster1.xml" Id="R201eccca18d94f0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cd53bffa1b14f13" /><Relationship Type="http://schemas.openxmlformats.org/officeDocument/2006/relationships/notesMaster" Target="/ppt/notesMasters/notesMaster1.xml" Id="R50554b18369e4f8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3504b3307804f29" /><Relationship Type="http://schemas.openxmlformats.org/officeDocument/2006/relationships/notesMaster" Target="/ppt/notesMasters/notesMaster1.xml" Id="R87c5cf6bb97e433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56a6c68500d4714" /><Relationship Type="http://schemas.openxmlformats.org/officeDocument/2006/relationships/notesMaster" Target="/ppt/notesMasters/notesMaster1.xml" Id="R6dee9814af9e438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71d0b513f404445" /><Relationship Type="http://schemas.openxmlformats.org/officeDocument/2006/relationships/notesMaster" Target="/ppt/notesMasters/notesMaster1.xml" Id="R1413683225c2454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5eddebd29344e45" /><Relationship Type="http://schemas.openxmlformats.org/officeDocument/2006/relationships/notesMaster" Target="/ppt/notesMasters/notesMaster1.xml" Id="Rac0f4af2acfc4c4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415eaa8fba74088" /><Relationship Type="http://schemas.openxmlformats.org/officeDocument/2006/relationships/notesMaster" Target="/ppt/notesMasters/notesMaster1.xml" Id="R5842242286924eb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SDLCAI opening slides</a:t>
            </a:r>
          </a:p>
          <a:p xmlns:a="http://schemas.openxmlformats.org/drawingml/2006/main">
            <a:r>
              <a:t>https://sdlcai.org/slides/opening/#welcome</a:t>
            </a:r>
          </a:p>
          <a:p xmlns:a="http://schemas.openxmlformats.org/drawingml/2006/main">
            <a:r>
              <a:t>Local source: site/layouts/slide-opening.html</a:t>
            </a:r>
          </a:p>
          <a:p xmlns:a="http://schemas.openxmlformats.org/drawingml/2006/main">
            <a:r>
              <a:t>Original speaker photographs and sponsor logos from assets/.</a:t>
            </a:r>
          </a:p>
          <a:p xmlns:a="http://schemas.openxmlformats.org/drawingml/2006/main">
            <a:r>
              <a:t>The opening film is separate preroll media and precedes this welcome slide.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SDLCAI opening slides</a:t>
            </a:r>
          </a:p>
          <a:p xmlns:a="http://schemas.openxmlformats.org/drawingml/2006/main">
            <a:r>
              <a:t>https://sdlcai.org/slides/opening/#sold-out</a:t>
            </a:r>
          </a:p>
          <a:p xmlns:a="http://schemas.openxmlformats.org/drawingml/2006/main">
            <a:r>
              <a:t>Local source: site/layouts/slide-opening.html</a:t>
            </a:r>
          </a:p>
          <a:p xmlns:a="http://schemas.openxmlformats.org/drawingml/2006/main">
            <a:r>
              <a:t>Original speaker photographs and sponsor logos from assets/.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SDLCAI opening slides</a:t>
            </a:r>
          </a:p>
          <a:p xmlns:a="http://schemas.openxmlformats.org/drawingml/2006/main">
            <a:r>
              <a:t>https://sdlcai.org/slides/opening/#themes</a:t>
            </a:r>
          </a:p>
          <a:p xmlns:a="http://schemas.openxmlformats.org/drawingml/2006/main">
            <a:r>
              <a:t>Local source: site/layouts/slide-opening.html</a:t>
            </a:r>
          </a:p>
          <a:p xmlns:a="http://schemas.openxmlformats.org/drawingml/2006/main">
            <a:r>
              <a:t>Original speaker photographs and sponsor logos from assets/.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SDLCAI opening slides</a:t>
            </a:r>
          </a:p>
          <a:p xmlns:a="http://schemas.openxmlformats.org/drawingml/2006/main">
            <a:r>
              <a:t>https://sdlcai.org/slides/opening/#speakers</a:t>
            </a:r>
          </a:p>
          <a:p xmlns:a="http://schemas.openxmlformats.org/drawingml/2006/main">
            <a:r>
              <a:t>Local source: site/layouts/slide-opening.html</a:t>
            </a:r>
          </a:p>
          <a:p xmlns:a="http://schemas.openxmlformats.org/drawingml/2006/main">
            <a:r>
              <a:t>Original speaker photographs and sponsor logos from assets/.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SDLCAI opening slides</a:t>
            </a:r>
          </a:p>
          <a:p xmlns:a="http://schemas.openxmlformats.org/drawingml/2006/main">
            <a:r>
              <a:t>https://sdlcai.org/slides/opening/#schedule</a:t>
            </a:r>
          </a:p>
          <a:p xmlns:a="http://schemas.openxmlformats.org/drawingml/2006/main">
            <a:r>
              <a:t>Local source: site/layouts/slide-opening.html</a:t>
            </a:r>
          </a:p>
          <a:p xmlns:a="http://schemas.openxmlformats.org/drawingml/2006/main">
            <a:r>
              <a:t>Original speaker photographs and sponsor logos from assets/.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SDLCAI opening slides</a:t>
            </a:r>
          </a:p>
          <a:p xmlns:a="http://schemas.openxmlformats.org/drawingml/2006/main">
            <a:r>
              <a:t>https://sdlcai.org/slides/opening/#afterparty</a:t>
            </a:r>
          </a:p>
          <a:p xmlns:a="http://schemas.openxmlformats.org/drawingml/2006/main">
            <a:r>
              <a:t>Local source: site/layouts/slide-opening.html</a:t>
            </a:r>
          </a:p>
          <a:p xmlns:a="http://schemas.openxmlformats.org/drawingml/2006/main">
            <a:r>
              <a:t>Original speaker photographs and sponsor logos from assets/.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SDLCAI opening slides</a:t>
            </a:r>
          </a:p>
          <a:p xmlns:a="http://schemas.openxmlformats.org/drawingml/2006/main">
            <a:r>
              <a:t>https://sdlcai.org/slides/opening/#hallway-track</a:t>
            </a:r>
          </a:p>
          <a:p xmlns:a="http://schemas.openxmlformats.org/drawingml/2006/main">
            <a:r>
              <a:t>Local source: site/layouts/slide-opening.html</a:t>
            </a:r>
          </a:p>
          <a:p xmlns:a="http://schemas.openxmlformats.org/drawingml/2006/main">
            <a:r>
              <a:t>Original speaker photographs and sponsor logos from assets/.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SDLCAI opening slides</a:t>
            </a:r>
          </a:p>
          <a:p xmlns:a="http://schemas.openxmlformats.org/drawingml/2006/main">
            <a:r>
              <a:t>https://sdlcai.org/slides/opening/#pacman-rule</a:t>
            </a:r>
          </a:p>
          <a:p xmlns:a="http://schemas.openxmlformats.org/drawingml/2006/main">
            <a:r>
              <a:t>Local source: site/layouts/slide-opening.html</a:t>
            </a:r>
          </a:p>
          <a:p xmlns:a="http://schemas.openxmlformats.org/drawingml/2006/main">
            <a:r>
              <a:t>Original speaker photographs and sponsor logos from assets/.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SDLCAI opening slides</a:t>
            </a:r>
          </a:p>
          <a:p xmlns:a="http://schemas.openxmlformats.org/drawingml/2006/main">
            <a:r>
              <a:t>https://sdlcai.org/slides/opening/#questions</a:t>
            </a:r>
          </a:p>
          <a:p xmlns:a="http://schemas.openxmlformats.org/drawingml/2006/main">
            <a:r>
              <a:t>Local source: site/layouts/slide-opening.html</a:t>
            </a:r>
          </a:p>
          <a:p xmlns:a="http://schemas.openxmlformats.org/drawingml/2006/main">
            <a:r>
              <a:t>Original speaker photographs and sponsor logos from assets/.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SDLCAI opening slides</a:t>
            </a:r>
          </a:p>
          <a:p xmlns:a="http://schemas.openxmlformats.org/drawingml/2006/main">
            <a:r>
              <a:t>https://sdlcai.org/slides/opening/#sponsors</a:t>
            </a:r>
          </a:p>
          <a:p xmlns:a="http://schemas.openxmlformats.org/drawingml/2006/main">
            <a:r>
              <a:t>Local source: site/layouts/slide-opening.html</a:t>
            </a:r>
          </a:p>
          <a:p xmlns:a="http://schemas.openxmlformats.org/drawingml/2006/main">
            <a:r>
              <a:t>Original speaker photographs and sponsor logos from assets/.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SDLCAI opening slides</a:t>
            </a:r>
          </a:p>
          <a:p xmlns:a="http://schemas.openxmlformats.org/drawingml/2006/main">
            <a:r>
              <a:t>https://sdlcai.org/slides/opening/#code-of-conduct</a:t>
            </a:r>
          </a:p>
          <a:p xmlns:a="http://schemas.openxmlformats.org/drawingml/2006/main">
            <a:r>
              <a:t>Local source: site/layouts/slide-opening.html</a:t>
            </a:r>
          </a:p>
          <a:p xmlns:a="http://schemas.openxmlformats.org/drawingml/2006/main">
            <a:r>
              <a:t>Original speaker photographs and sponsor logos from assets/.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SDLCAI opening slides</a:t>
            </a:r>
          </a:p>
          <a:p xmlns:a="http://schemas.openxmlformats.org/drawingml/2006/main">
            <a:r>
              <a:t>https://sdlcai.org/slides/opening/#sdlcai</a:t>
            </a:r>
          </a:p>
          <a:p xmlns:a="http://schemas.openxmlformats.org/drawingml/2006/main">
            <a:r>
              <a:t>Local source: site/layouts/slide-opening.html</a:t>
            </a:r>
          </a:p>
          <a:p xmlns:a="http://schemas.openxmlformats.org/drawingml/2006/main">
            <a:r>
              <a:t>Original speaker photographs and sponsor logos from assets/.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d6d1c3067a1492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f7449faa65642a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81fe8f7941a499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81a3317e33a4c0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5da821d9da346a1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dce3377d3524ec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138B2B2-D89B-4205-9E0D-5C37945AFF3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828800" y="3886200"/>
            <a:ext cx="146304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7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4F306B62-08AC-406D-84D6-0F045FBAF7F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743200" y="5657850"/>
            <a:ext cx="12801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31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219F7918-BD9B-4213-916D-1048FF77FE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828800" y="4286250"/>
            <a:ext cx="146304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6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7EB87DB-AE31-4E0F-8976-0C263B5CDC7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028700" y="800100"/>
            <a:ext cx="162306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9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3E8D00E5-8136-4C48-91D6-FCDED1BD2FE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028700" y="2857500"/>
            <a:ext cx="16230600" cy="640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3429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1pPr>
            <a:lvl2pPr marL="8001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2pPr>
            <a:lvl3pPr marL="12573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3pPr>
            <a:lvl4pPr marL="17145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4pPr>
            <a:lvl5pPr marL="21717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5pPr>
            <a:lvl6pPr marL="26289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6pPr>
            <a:lvl7pPr marL="30861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7pPr>
            <a:lvl8pPr marL="35433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8pPr>
            <a:lvl9pPr marL="40005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8BADA78-8DA5-4184-8F8D-E52D31A49FE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028700" y="800100"/>
            <a:ext cx="162306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9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5813791-1B39-474D-A729-CFBBED350F7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028700" y="2857500"/>
            <a:ext cx="7543800" cy="640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1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3429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1pPr>
            <a:lvl2pPr marL="8001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2pPr>
            <a:lvl3pPr marL="12573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3pPr>
            <a:lvl4pPr marL="17145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4pPr>
            <a:lvl5pPr marL="21717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5pPr>
            <a:lvl6pPr marL="26289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6pPr>
            <a:lvl7pPr marL="30861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7pPr>
            <a:lvl8pPr marL="35433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8pPr>
            <a:lvl9pPr marL="40005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8221697C-27FD-4AAF-B951-064F66DE733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9715500" y="2857500"/>
            <a:ext cx="7543800" cy="640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1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3429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1pPr>
            <a:lvl2pPr marL="8001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2pPr>
            <a:lvl3pPr marL="12573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3pPr>
            <a:lvl4pPr marL="17145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4pPr>
            <a:lvl5pPr marL="21717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5pPr>
            <a:lvl6pPr marL="26289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6pPr>
            <a:lvl7pPr marL="30861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7pPr>
            <a:lvl8pPr marL="35433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8pPr>
            <a:lvl9pPr marL="40005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2668C4C-14B7-4C13-BA00-B2419663C54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028700" y="800100"/>
            <a:ext cx="162306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9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AAED25E9-40FF-41BD-99FD-584B266AB72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028700" y="2857500"/>
            <a:ext cx="7543800" cy="640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3429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1pPr>
            <a:lvl2pPr marL="8001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2pPr>
            <a:lvl3pPr marL="12573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3pPr>
            <a:lvl4pPr marL="17145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4pPr>
            <a:lvl5pPr marL="21717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5pPr>
            <a:lvl6pPr marL="26289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6pPr>
            <a:lvl7pPr marL="30861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7pPr>
            <a:lvl8pPr marL="35433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8pPr>
            <a:lvl9pPr marL="40005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e402a6ca94449cf" /><Relationship Type="http://schemas.openxmlformats.org/officeDocument/2006/relationships/slideLayout" Target="/ppt/slideLayouts/slideLayout1.xml" Id="R7b3ef272d48e4c9b" /><Relationship Type="http://schemas.openxmlformats.org/officeDocument/2006/relationships/slideLayout" Target="/ppt/slideLayouts/slideLayout2.xml" Id="R2edc7a89f64d4fd1" /><Relationship Type="http://schemas.openxmlformats.org/officeDocument/2006/relationships/slideLayout" Target="/ppt/slideLayouts/slideLayout3.xml" Id="R24d4a832fe794b5c" /><Relationship Type="http://schemas.openxmlformats.org/officeDocument/2006/relationships/slideLayout" Target="/ppt/slideLayouts/slideLayout4.xml" Id="Ra08b9908c382457b" /><Relationship Type="http://schemas.openxmlformats.org/officeDocument/2006/relationships/slideLayout" Target="/ppt/slideLayouts/slideLayout5.xml" Id="R5fa76a2e545b4c96" /><Relationship Type="http://schemas.openxmlformats.org/officeDocument/2006/relationships/slideLayout" Target="/ppt/slideLayouts/slideLayout6.xml" Id="R8c474d3063cf456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b3ef272d48e4c9b"/>
    <p:sldLayoutId xmlns:r="http://schemas.openxmlformats.org/officeDocument/2006/relationships" id="2147483650" r:id="R2edc7a89f64d4fd1"/>
    <p:sldLayoutId xmlns:r="http://schemas.openxmlformats.org/officeDocument/2006/relationships" id="2147483651" r:id="R24d4a832fe794b5c"/>
    <p:sldLayoutId xmlns:r="http://schemas.openxmlformats.org/officeDocument/2006/relationships" id="2147483652" r:id="Ra08b9908c382457b"/>
    <p:sldLayoutId xmlns:r="http://schemas.openxmlformats.org/officeDocument/2006/relationships" id="2147483653" r:id="R5fa76a2e545b4c96"/>
    <p:sldLayoutId xmlns:r="http://schemas.openxmlformats.org/officeDocument/2006/relationships" id="2147483654" r:id="R8c474d3063cf456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7083e41a0084ece" /><Relationship Type="http://schemas.openxmlformats.org/officeDocument/2006/relationships/image" Target="/ppt/media/image.png" Id="Rd16f315a093d485e" /><Relationship Type="http://schemas.openxmlformats.org/officeDocument/2006/relationships/notesSlide" Target="/ppt/notesSlides/notesSlide1.xml" Id="Rcc5f116ec993400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cee363449c04292" /><Relationship Type="http://schemas.openxmlformats.org/officeDocument/2006/relationships/image" Target="/ppt/media/image2.png" Id="Rb75ae369f8d348c8" /><Relationship Type="http://schemas.openxmlformats.org/officeDocument/2006/relationships/notesSlide" Target="/ppt/notesSlides/notesSlide2.xml" Id="Re4461cc50e7b44a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2d047181d344785" /><Relationship Type="http://schemas.openxmlformats.org/officeDocument/2006/relationships/image" Target="/ppt/media/image3.png" Id="R641ae01cbd9c4cd2" /><Relationship Type="http://schemas.openxmlformats.org/officeDocument/2006/relationships/notesSlide" Target="/ppt/notesSlides/notesSlide3.xml" Id="R7e2a317901a6451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abca4a086104b4a" /><Relationship Type="http://schemas.openxmlformats.org/officeDocument/2006/relationships/image" Target="/ppt/media/image4.png" Id="Rd7e3f5e5cfff4814" /><Relationship Type="http://schemas.openxmlformats.org/officeDocument/2006/relationships/image" Target="/ppt/media/image5.png" Id="Rab9843412f604267" /><Relationship Type="http://schemas.openxmlformats.org/officeDocument/2006/relationships/image" Target="/ppt/media/image6.png" Id="Rb853c20543e64c84" /><Relationship Type="http://schemas.openxmlformats.org/officeDocument/2006/relationships/image" Target="/ppt/media/image7.png" Id="R970d992c584f4d03" /><Relationship Type="http://schemas.openxmlformats.org/officeDocument/2006/relationships/image" Target="/ppt/media/image8.png" Id="R9a90e158fb6d4feb" /><Relationship Type="http://schemas.openxmlformats.org/officeDocument/2006/relationships/image" Target="/ppt/media/image9.png" Id="Rdcb361cf17db4937" /><Relationship Type="http://schemas.openxmlformats.org/officeDocument/2006/relationships/image" Target="/ppt/media/image10.png" Id="Ref39c72007c64bce" /><Relationship Type="http://schemas.openxmlformats.org/officeDocument/2006/relationships/image" Target="/ppt/media/image11.png" Id="Race65e0c95c94353" /><Relationship Type="http://schemas.openxmlformats.org/officeDocument/2006/relationships/image" Target="/ppt/media/image12.png" Id="R167795090ecb42a6" /><Relationship Type="http://schemas.openxmlformats.org/officeDocument/2006/relationships/image" Target="/ppt/media/image13.png" Id="Recee1164cd3c4457" /><Relationship Type="http://schemas.openxmlformats.org/officeDocument/2006/relationships/image" Target="/ppt/media/image14.png" Id="R34d0c143594b483c" /><Relationship Type="http://schemas.openxmlformats.org/officeDocument/2006/relationships/notesSlide" Target="/ppt/notesSlides/notesSlide4.xml" Id="R5d55e7a0fff040b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2534573087948dd" /><Relationship Type="http://schemas.openxmlformats.org/officeDocument/2006/relationships/image" Target="/ppt/media/image15.png" Id="Rd6761b7cae954e06" /><Relationship Type="http://schemas.openxmlformats.org/officeDocument/2006/relationships/hyperlink" Target="https://sdlcai.org/schedule/" TargetMode="External" Id="R364fcb4fdfee4291" /><Relationship Type="http://schemas.openxmlformats.org/officeDocument/2006/relationships/notesSlide" Target="/ppt/notesSlides/notesSlide5.xml" Id="R926819f7f96e48d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d81795c9f93469d" /><Relationship Type="http://schemas.openxmlformats.org/officeDocument/2006/relationships/image" Target="/ppt/media/image16.png" Id="R10516f2dbda046b4" /><Relationship Type="http://schemas.openxmlformats.org/officeDocument/2006/relationships/notesSlide" Target="/ppt/notesSlides/notesSlide6.xml" Id="Ra6ab4261732b4ad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0184296a4654108" /><Relationship Type="http://schemas.openxmlformats.org/officeDocument/2006/relationships/image" Target="/ppt/media/image17.png" Id="Rbd03440e35b94155" /><Relationship Type="http://schemas.openxmlformats.org/officeDocument/2006/relationships/notesSlide" Target="/ppt/notesSlides/notesSlide7.xml" Id="Rd5e567edbc0a441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9906e4710cb4d23" /><Relationship Type="http://schemas.openxmlformats.org/officeDocument/2006/relationships/image" Target="/ppt/media/image18.png" Id="R996ecaeeb833447b" /><Relationship Type="http://schemas.openxmlformats.org/officeDocument/2006/relationships/notesSlide" Target="/ppt/notesSlides/notesSlide8.xml" Id="R7e1bc919eb35459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6a38c2a57f5400e" /><Relationship Type="http://schemas.openxmlformats.org/officeDocument/2006/relationships/image" Target="/ppt/media/image19.png" Id="Rfdbabbd6edda4efb" /><Relationship Type="http://schemas.openxmlformats.org/officeDocument/2006/relationships/image" Target="/ppt/media/image20.png" Id="Rc8760fa5e0464c5f" /><Relationship Type="http://schemas.openxmlformats.org/officeDocument/2006/relationships/hyperlink" Target="https://sdlcai.org/qa/" TargetMode="External" Id="Re873357e9b404b49" /><Relationship Type="http://schemas.openxmlformats.org/officeDocument/2006/relationships/notesSlide" Target="/ppt/notesSlides/notesSlide9.xml" Id="Rd8dcabe9cb2748c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82345b18c23460c" /><Relationship Type="http://schemas.openxmlformats.org/officeDocument/2006/relationships/image" Target="/ppt/media/image21.png" Id="R22a95336b43f4ba8" /><Relationship Type="http://schemas.openxmlformats.org/officeDocument/2006/relationships/image" Target="/ppt/media/image22.png" Id="Rac3fca87d02e4c8b" /><Relationship Type="http://schemas.openxmlformats.org/officeDocument/2006/relationships/image" Target="/ppt/media/image23.png" Id="R1eba9593c2fa4a51" /><Relationship Type="http://schemas.openxmlformats.org/officeDocument/2006/relationships/image" Target="/ppt/media/image24.png" Id="Rc4459fceffe04608" /><Relationship Type="http://schemas.openxmlformats.org/officeDocument/2006/relationships/image" Target="/ppt/media/image25.png" Id="R7cb787120987428c" /><Relationship Type="http://schemas.openxmlformats.org/officeDocument/2006/relationships/image" Target="/ppt/media/image26.png" Id="Reb963811301d4822" /><Relationship Type="http://schemas.openxmlformats.org/officeDocument/2006/relationships/image" Target="/ppt/media/image27.png" Id="Rce036e9074dd406c" /><Relationship Type="http://schemas.openxmlformats.org/officeDocument/2006/relationships/image" Target="/ppt/media/image28.png" Id="R5957ce34b055416f" /><Relationship Type="http://schemas.openxmlformats.org/officeDocument/2006/relationships/notesSlide" Target="/ppt/notesSlides/notesSlide10.xml" Id="Ra1432122e51c4cd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3d568eae6ac4290" /><Relationship Type="http://schemas.openxmlformats.org/officeDocument/2006/relationships/image" Target="/ppt/media/image29.png" Id="Rfb3f998882a441d1" /><Relationship Type="http://schemas.openxmlformats.org/officeDocument/2006/relationships/hyperlink" Target="https://berlincodeofconduct.org/en" TargetMode="External" Id="R02d7ec7ae689462b" /><Relationship Type="http://schemas.openxmlformats.org/officeDocument/2006/relationships/notesSlide" Target="/ppt/notesSlides/notesSlide11.xml" Id="Rcf0223fe5c92429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a676b1afc4a4208" /><Relationship Type="http://schemas.openxmlformats.org/officeDocument/2006/relationships/image" Target="/ppt/media/image30.png" Id="R48a49714873d49e5" /><Relationship Type="http://schemas.openxmlformats.org/officeDocument/2006/relationships/notesSlide" Target="/ppt/notesSlides/notesSlide12.xml" Id="R5854937783b04c2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8080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CEDA14-417F-4B44-BE44-953774B7DD8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6f315a093d485e"/>
          <a:stretch xmlns:a="http://schemas.openxmlformats.org/drawingml/2006/main"/>
        </p:blipFill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</p:spPr>
      </p:pic>
      <p:sp>
        <p:nvSpPr>
          <p:cNvPr id="2" name="welcome-span-1">
            <a:extLst xmlns:a="http://schemas.openxmlformats.org/drawingml/2006/main">
              <a:ext uri="{FF2B5EF4-FFF2-40B4-BE49-F238E27FC236}">
                <a16:creationId xmlns:a16="http://schemas.microsoft.com/office/drawing/2014/main" id="{D6775796-7038-4185-9A32-B6C88F9B8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595168"/>
            <a:ext cx="1216670" cy="3734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28" b="1" spc="83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defPPr>
          </a:lstStyle>
          <a:p xmlns:a="http://schemas.openxmlformats.org/drawingml/2006/main">
            <a:pPr algn="l">
              <a:defRPr sz="2228" b="1" spc="83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pPr>
            <a:r>
              <a:rPr sz="2228" b="1" spc="83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rPr>
              <a:t>SDLCAI</a:t>
            </a:r>
          </a:p>
        </p:txBody>
      </p:sp>
      <p:sp>
        <p:nvSpPr>
          <p:cNvPr id="3" name="welcome-span-2">
            <a:extLst xmlns:a="http://schemas.openxmlformats.org/drawingml/2006/main">
              <a:ext uri="{FF2B5EF4-FFF2-40B4-BE49-F238E27FC236}">
                <a16:creationId xmlns:a16="http://schemas.microsoft.com/office/drawing/2014/main" id="{04CEFD65-2D7E-4749-B19F-8CD9A2826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80853" y="662117"/>
            <a:ext cx="3012877" cy="230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rPr>
              <a:t>13 OCTOBER 2026 / MARSIO</a:t>
            </a:r>
          </a:p>
        </p:txBody>
      </p:sp>
      <p:sp>
        <p:nvSpPr>
          <p:cNvPr id="4" name="welcome-p-3">
            <a:extLst xmlns:a="http://schemas.openxmlformats.org/drawingml/2006/main">
              <a:ext uri="{FF2B5EF4-FFF2-40B4-BE49-F238E27FC236}">
                <a16:creationId xmlns:a16="http://schemas.microsoft.com/office/drawing/2014/main" id="{DF8196BE-A3BA-4CC0-AA28-719B7B5C8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2527333"/>
            <a:ext cx="2615505" cy="4393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621" b="1" spc="105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2621" b="1" spc="105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2621" b="1" spc="105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rPr>
              <a:t>WELCOME TO</a:t>
            </a:r>
          </a:p>
        </p:txBody>
      </p:sp>
      <p:sp>
        <p:nvSpPr>
          <p:cNvPr id="5" name="welcome-h1-4">
            <a:extLst xmlns:a="http://schemas.openxmlformats.org/drawingml/2006/main">
              <a:ext uri="{FF2B5EF4-FFF2-40B4-BE49-F238E27FC236}">
                <a16:creationId xmlns:a16="http://schemas.microsoft.com/office/drawing/2014/main" id="{B203EB2D-6DCA-4722-9777-6D6D71DBA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2540285"/>
            <a:ext cx="10613380" cy="43935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6208" b="1" spc="-655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defPPr>
          </a:lstStyle>
          <a:p xmlns:a="http://schemas.openxmlformats.org/drawingml/2006/main">
            <a:pPr algn="l">
              <a:defRPr sz="26208" b="1" spc="-655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pPr>
            <a:r>
              <a:rPr sz="26208" b="1" spc="-655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rPr>
              <a:t>SDLCAI</a:t>
            </a:r>
          </a:p>
        </p:txBody>
      </p:sp>
      <p:sp>
        <p:nvSpPr>
          <p:cNvPr id="6" name="welcome-p-5">
            <a:extLst xmlns:a="http://schemas.openxmlformats.org/drawingml/2006/main">
              <a:ext uri="{FF2B5EF4-FFF2-40B4-BE49-F238E27FC236}">
                <a16:creationId xmlns:a16="http://schemas.microsoft.com/office/drawing/2014/main" id="{8F66741A-56EF-4EDC-BC73-316FD9A95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6409658"/>
            <a:ext cx="11105852" cy="681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4062" b="0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4062" b="0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4062" b="0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rPr>
              <a:t>AI meets the software development lifecycle.</a:t>
            </a:r>
          </a:p>
        </p:txBody>
      </p:sp>
      <p:sp>
        <p:nvSpPr>
          <p:cNvPr id="7" name="welcome-p-6">
            <a:extLst xmlns:a="http://schemas.openxmlformats.org/drawingml/2006/main">
              <a:ext uri="{FF2B5EF4-FFF2-40B4-BE49-F238E27FC236}">
                <a16:creationId xmlns:a16="http://schemas.microsoft.com/office/drawing/2014/main" id="{B48BE267-7DCA-487D-8F6C-8649CDDA7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7391185"/>
            <a:ext cx="8244929" cy="4393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621" b="0" spc="0" kern="0">
                <a:solidFill>
                  <a:srgbClr val="B3B2A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2621" b="0" spc="0" kern="0">
                <a:solidFill>
                  <a:srgbClr val="B3B2A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2621" b="0" spc="0" kern="0">
                <a:solidFill>
                  <a:srgbClr val="B3B2AE"/>
                </a:solidFill>
                <a:latin typeface="Finlandica Text"/>
                <a:ea typeface="Finlandica Text"/>
                <a:cs typeface="Finlandica Text"/>
              </a:rPr>
              <a:t>One day. Industry and academia. One conversation.</a:t>
            </a:r>
          </a:p>
        </p:txBody>
      </p:sp>
      <p:sp>
        <p:nvSpPr>
          <p:cNvPr id="8" name="welcome-span-7">
            <a:extLst xmlns:a="http://schemas.openxmlformats.org/drawingml/2006/main">
              <a:ext uri="{FF2B5EF4-FFF2-40B4-BE49-F238E27FC236}">
                <a16:creationId xmlns:a16="http://schemas.microsoft.com/office/drawing/2014/main" id="{D8F99385-32A5-4AD6-9104-404727C87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9440446"/>
            <a:ext cx="1700808" cy="230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rPr>
              <a:t>AI MEETS SDLC</a:t>
            </a:r>
          </a:p>
        </p:txBody>
      </p:sp>
      <p:sp>
        <p:nvSpPr>
          <p:cNvPr id="9" name="welcome-span-8">
            <a:extLst xmlns:a="http://schemas.openxmlformats.org/drawingml/2006/main">
              <a:ext uri="{FF2B5EF4-FFF2-40B4-BE49-F238E27FC236}">
                <a16:creationId xmlns:a16="http://schemas.microsoft.com/office/drawing/2014/main" id="{62C9A668-2731-4AB2-BB21-16C524116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30836" y="9440446"/>
            <a:ext cx="762893" cy="230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rPr>
              <a:t>1 / 12</a:t>
            </a:r>
          </a:p>
        </p:txBody>
      </p:sp>
    </p:spTree>
    <p:extLst>
      <p:ext uri="{BB962C8B-B14F-4D97-AF65-F5344CB8AC3E}">
        <p14:creationId xmlns:p14="http://schemas.microsoft.com/office/powerpoint/2010/main" val="61607420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8080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823B9D-07EA-434E-906A-F759FFE694D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5ae369f8d348c8"/>
          <a:stretch xmlns:a="http://schemas.openxmlformats.org/drawingml/2006/main"/>
        </p:blipFill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</p:spPr>
      </p:pic>
      <p:sp>
        <p:nvSpPr>
          <p:cNvPr id="2" name="sold-out-span-1">
            <a:extLst xmlns:a="http://schemas.openxmlformats.org/drawingml/2006/main">
              <a:ext uri="{FF2B5EF4-FFF2-40B4-BE49-F238E27FC236}">
                <a16:creationId xmlns:a16="http://schemas.microsoft.com/office/drawing/2014/main" id="{BB9BB46A-186A-4B65-BE6B-51D2143F0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595168"/>
            <a:ext cx="1216670" cy="3734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28" b="1" spc="83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defPPr>
          </a:lstStyle>
          <a:p xmlns:a="http://schemas.openxmlformats.org/drawingml/2006/main">
            <a:pPr algn="l">
              <a:defRPr sz="2228" b="1" spc="83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pPr>
            <a:r>
              <a:rPr sz="2228" b="1" spc="83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rPr>
              <a:t>SDLCAI</a:t>
            </a:r>
          </a:p>
        </p:txBody>
      </p:sp>
      <p:sp>
        <p:nvSpPr>
          <p:cNvPr id="3" name="sold-out-span-2">
            <a:extLst xmlns:a="http://schemas.openxmlformats.org/drawingml/2006/main">
              <a:ext uri="{FF2B5EF4-FFF2-40B4-BE49-F238E27FC236}">
                <a16:creationId xmlns:a16="http://schemas.microsoft.com/office/drawing/2014/main" id="{0B0E5E98-F5D3-4605-8A9F-D23DF92AA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80853" y="662117"/>
            <a:ext cx="3012877" cy="230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rPr>
              <a:t>13 OCTOBER 2026 / MARSIO</a:t>
            </a:r>
          </a:p>
        </p:txBody>
      </p:sp>
      <p:sp>
        <p:nvSpPr>
          <p:cNvPr id="4" name="sold-out-p-3">
            <a:extLst xmlns:a="http://schemas.openxmlformats.org/drawingml/2006/main">
              <a:ext uri="{FF2B5EF4-FFF2-40B4-BE49-F238E27FC236}">
                <a16:creationId xmlns:a16="http://schemas.microsoft.com/office/drawing/2014/main" id="{68CAFB72-DB66-4F06-9733-CF3D56F2D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2643568"/>
            <a:ext cx="2079129" cy="4393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621" b="1" spc="105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2621" b="1" spc="105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2621" b="1" spc="105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rPr>
              <a:t>SOLD OUT</a:t>
            </a:r>
          </a:p>
        </p:txBody>
      </p:sp>
      <p:sp>
        <p:nvSpPr>
          <p:cNvPr id="5" name="sold-out-h1-4">
            <a:extLst xmlns:a="http://schemas.openxmlformats.org/drawingml/2006/main">
              <a:ext uri="{FF2B5EF4-FFF2-40B4-BE49-F238E27FC236}">
                <a16:creationId xmlns:a16="http://schemas.microsoft.com/office/drawing/2014/main" id="{41E60265-E393-4D07-A200-5B3D87D6C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2168435"/>
            <a:ext cx="8038058" cy="593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5381" b="1" spc="-1415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defPPr>
          </a:lstStyle>
          <a:p xmlns:a="http://schemas.openxmlformats.org/drawingml/2006/main">
            <a:pPr algn="l">
              <a:defRPr sz="35381" b="1" spc="-1415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pPr>
            <a:r>
              <a:rPr sz="35381" b="1" spc="-1415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rPr>
              <a:t>200</a:t>
            </a:r>
          </a:p>
        </p:txBody>
      </p:sp>
      <p:sp>
        <p:nvSpPr>
          <p:cNvPr id="6" name="sold-out-p-5">
            <a:extLst xmlns:a="http://schemas.openxmlformats.org/drawingml/2006/main">
              <a:ext uri="{FF2B5EF4-FFF2-40B4-BE49-F238E27FC236}">
                <a16:creationId xmlns:a16="http://schemas.microsoft.com/office/drawing/2014/main" id="{79D39F3D-33BC-4AE0-A568-835DDA54F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7075217"/>
            <a:ext cx="5086648" cy="681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4062" b="0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4062" b="0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4062" b="0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rPr>
              <a:t>attendees (approx.)</a:t>
            </a:r>
          </a:p>
        </p:txBody>
      </p:sp>
      <p:sp>
        <p:nvSpPr>
          <p:cNvPr id="7" name="sold-out-p-6">
            <a:extLst xmlns:a="http://schemas.openxmlformats.org/drawingml/2006/main">
              <a:ext uri="{FF2B5EF4-FFF2-40B4-BE49-F238E27FC236}">
                <a16:creationId xmlns:a16="http://schemas.microsoft.com/office/drawing/2014/main" id="{92B2D1F4-9B5F-4A96-A393-C2560D8F2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2610" y="5827367"/>
            <a:ext cx="3852416" cy="988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5897" b="0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5897" b="0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5897" b="0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rPr>
              <a:t>Thank you</a:t>
            </a:r>
          </a:p>
        </p:txBody>
      </p:sp>
      <p:sp>
        <p:nvSpPr>
          <p:cNvPr id="8" name="sold-out-p-7">
            <a:extLst xmlns:a="http://schemas.openxmlformats.org/drawingml/2006/main">
              <a:ext uri="{FF2B5EF4-FFF2-40B4-BE49-F238E27FC236}">
                <a16:creationId xmlns:a16="http://schemas.microsoft.com/office/drawing/2014/main" id="{64EB5DD9-3579-4292-8345-A92B14D7D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2610" y="6651131"/>
            <a:ext cx="5368082" cy="988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5897" b="0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5897" b="0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5897" b="0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rPr>
              <a:t>for being here.</a:t>
            </a:r>
          </a:p>
        </p:txBody>
      </p:sp>
      <p:sp>
        <p:nvSpPr>
          <p:cNvPr id="9" name="sold-out-span-8">
            <a:extLst xmlns:a="http://schemas.openxmlformats.org/drawingml/2006/main">
              <a:ext uri="{FF2B5EF4-FFF2-40B4-BE49-F238E27FC236}">
                <a16:creationId xmlns:a16="http://schemas.microsoft.com/office/drawing/2014/main" id="{E97793E9-D37A-47A8-9557-8B6BC41C6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9440446"/>
            <a:ext cx="1700808" cy="230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rPr>
              <a:t>AI MEETS SDLC</a:t>
            </a:r>
          </a:p>
        </p:txBody>
      </p:sp>
      <p:sp>
        <p:nvSpPr>
          <p:cNvPr id="10" name="sold-out-span-9">
            <a:extLst xmlns:a="http://schemas.openxmlformats.org/drawingml/2006/main">
              <a:ext uri="{FF2B5EF4-FFF2-40B4-BE49-F238E27FC236}">
                <a16:creationId xmlns:a16="http://schemas.microsoft.com/office/drawing/2014/main" id="{89E4F4F2-9DC1-4AAF-95F3-9B1E5FC40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10298" y="9440446"/>
            <a:ext cx="783431" cy="230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rPr>
              <a:t>2 / 12</a:t>
            </a:r>
          </a:p>
        </p:txBody>
      </p:sp>
    </p:spTree>
    <p:extLst>
      <p:ext uri="{BB962C8B-B14F-4D97-AF65-F5344CB8AC3E}">
        <p14:creationId xmlns:p14="http://schemas.microsoft.com/office/powerpoint/2010/main" val="3489940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8080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7FA305F-5A3D-4AF7-A4BE-350B644E1DF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1ae01cbd9c4cd2"/>
          <a:stretch xmlns:a="http://schemas.openxmlformats.org/drawingml/2006/main"/>
        </p:blipFill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</p:spPr>
      </p:pic>
      <p:sp>
        <p:nvSpPr>
          <p:cNvPr id="2" name="themes-span-1">
            <a:extLst xmlns:a="http://schemas.openxmlformats.org/drawingml/2006/main">
              <a:ext uri="{FF2B5EF4-FFF2-40B4-BE49-F238E27FC236}">
                <a16:creationId xmlns:a16="http://schemas.microsoft.com/office/drawing/2014/main" id="{FB1ABCCB-5DC0-49F4-82A0-BB691ED51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595168"/>
            <a:ext cx="1216670" cy="3734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28" b="1" spc="83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defPPr>
          </a:lstStyle>
          <a:p xmlns:a="http://schemas.openxmlformats.org/drawingml/2006/main">
            <a:pPr algn="l">
              <a:defRPr sz="2228" b="1" spc="83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pPr>
            <a:r>
              <a:rPr sz="2228" b="1" spc="83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rPr>
              <a:t>SDLCAI</a:t>
            </a:r>
          </a:p>
        </p:txBody>
      </p:sp>
      <p:sp>
        <p:nvSpPr>
          <p:cNvPr id="3" name="themes-span-2">
            <a:extLst xmlns:a="http://schemas.openxmlformats.org/drawingml/2006/main">
              <a:ext uri="{FF2B5EF4-FFF2-40B4-BE49-F238E27FC236}">
                <a16:creationId xmlns:a16="http://schemas.microsoft.com/office/drawing/2014/main" id="{2E355EA3-5DEE-4C5D-884B-0977929DE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80853" y="662117"/>
            <a:ext cx="3012877" cy="230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rPr>
              <a:t>13 OCTOBER 2026 / MARSIO</a:t>
            </a:r>
          </a:p>
        </p:txBody>
      </p:sp>
      <p:sp>
        <p:nvSpPr>
          <p:cNvPr id="4" name="themes-h1-3">
            <a:extLst xmlns:a="http://schemas.openxmlformats.org/drawingml/2006/main">
              <a:ext uri="{FF2B5EF4-FFF2-40B4-BE49-F238E27FC236}">
                <a16:creationId xmlns:a16="http://schemas.microsoft.com/office/drawing/2014/main" id="{AD33ACE4-73BE-4920-AD56-FEF5324EE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1466431"/>
            <a:ext cx="9690199" cy="16256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697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defPPr>
          </a:lstStyle>
          <a:p xmlns:a="http://schemas.openxmlformats.org/drawingml/2006/main">
            <a:pPr algn="l">
              <a:defRPr sz="9697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pPr>
            <a:r>
              <a:rPr sz="9697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rPr>
              <a:t>TODAY’S THEMES</a:t>
            </a:r>
          </a:p>
        </p:txBody>
      </p:sp>
      <p:sp>
        <p:nvSpPr>
          <p:cNvPr id="5" name="themes-span-4">
            <a:extLst xmlns:a="http://schemas.openxmlformats.org/drawingml/2006/main">
              <a:ext uri="{FF2B5EF4-FFF2-40B4-BE49-F238E27FC236}">
                <a16:creationId xmlns:a16="http://schemas.microsoft.com/office/drawing/2014/main" id="{129986C1-8A1D-437F-98B5-9AA089E2A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3943083"/>
            <a:ext cx="577602" cy="3954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59" b="0" spc="0" kern="0">
                <a:solidFill>
                  <a:srgbClr val="979693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2359" b="0" spc="0" kern="0">
                <a:solidFill>
                  <a:srgbClr val="979693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2359" b="0" spc="0" kern="0">
                <a:solidFill>
                  <a:srgbClr val="979693"/>
                </a:solidFill>
                <a:latin typeface="Finlandica Text"/>
                <a:ea typeface="Finlandica Text"/>
                <a:cs typeface="Finlandica Text"/>
              </a:rPr>
              <a:t>01</a:t>
            </a:r>
          </a:p>
        </p:txBody>
      </p:sp>
      <p:sp>
        <p:nvSpPr>
          <p:cNvPr id="6" name="themes-strong-5">
            <a:extLst xmlns:a="http://schemas.openxmlformats.org/drawingml/2006/main">
              <a:ext uri="{FF2B5EF4-FFF2-40B4-BE49-F238E27FC236}">
                <a16:creationId xmlns:a16="http://schemas.microsoft.com/office/drawing/2014/main" id="{E1816949-49C1-49AA-A29F-6134582E4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7748" y="3610238"/>
            <a:ext cx="11096476" cy="8347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4980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defPPr>
          </a:lstStyle>
          <a:p xmlns:a="http://schemas.openxmlformats.org/drawingml/2006/main">
            <a:pPr algn="l">
              <a:defRPr sz="4980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pPr>
            <a:r>
              <a:rPr sz="4980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rPr>
              <a:t>AI IN REAL ENGINEERING PIPELINES</a:t>
            </a:r>
          </a:p>
        </p:txBody>
      </p:sp>
      <p:sp>
        <p:nvSpPr>
          <p:cNvPr id="7" name="themes-span-6">
            <a:extLst xmlns:a="http://schemas.openxmlformats.org/drawingml/2006/main">
              <a:ext uri="{FF2B5EF4-FFF2-40B4-BE49-F238E27FC236}">
                <a16:creationId xmlns:a16="http://schemas.microsoft.com/office/drawing/2014/main" id="{2C75D84C-D227-4072-9D0B-89FFDC4C1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5286555"/>
            <a:ext cx="629096" cy="3954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59" b="0" spc="0" kern="0">
                <a:solidFill>
                  <a:srgbClr val="979693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2359" b="0" spc="0" kern="0">
                <a:solidFill>
                  <a:srgbClr val="979693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2359" b="0" spc="0" kern="0">
                <a:solidFill>
                  <a:srgbClr val="979693"/>
                </a:solidFill>
                <a:latin typeface="Finlandica Text"/>
                <a:ea typeface="Finlandica Text"/>
                <a:cs typeface="Finlandica Text"/>
              </a:rPr>
              <a:t>02</a:t>
            </a:r>
          </a:p>
        </p:txBody>
      </p:sp>
      <p:sp>
        <p:nvSpPr>
          <p:cNvPr id="8" name="themes-strong-7">
            <a:extLst xmlns:a="http://schemas.openxmlformats.org/drawingml/2006/main">
              <a:ext uri="{FF2B5EF4-FFF2-40B4-BE49-F238E27FC236}">
                <a16:creationId xmlns:a16="http://schemas.microsoft.com/office/drawing/2014/main" id="{73992861-2CD4-4364-9F9C-DA855695B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7748" y="4953709"/>
            <a:ext cx="10812512" cy="8347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4980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defPPr>
          </a:lstStyle>
          <a:p xmlns:a="http://schemas.openxmlformats.org/drawingml/2006/main">
            <a:pPr algn="l">
              <a:defRPr sz="4980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pPr>
            <a:r>
              <a:rPr sz="4980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rPr>
              <a:t>QUALITY, TESTING &amp; REVIEW UNDER</a:t>
            </a:r>
          </a:p>
        </p:txBody>
      </p:sp>
      <p:sp>
        <p:nvSpPr>
          <p:cNvPr id="9" name="themes-strong-8">
            <a:extLst xmlns:a="http://schemas.openxmlformats.org/drawingml/2006/main">
              <a:ext uri="{FF2B5EF4-FFF2-40B4-BE49-F238E27FC236}">
                <a16:creationId xmlns:a16="http://schemas.microsoft.com/office/drawing/2014/main" id="{5C0B40BD-CAAE-4724-894F-1460F1864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7748" y="5617631"/>
            <a:ext cx="3986808" cy="8347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4980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defPPr>
          </a:lstStyle>
          <a:p xmlns:a="http://schemas.openxmlformats.org/drawingml/2006/main">
            <a:pPr algn="l">
              <a:defRPr sz="4980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pPr>
            <a:r>
              <a:rPr sz="4980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rPr>
              <a:t>AUTOMATION</a:t>
            </a:r>
          </a:p>
        </p:txBody>
      </p:sp>
      <p:sp>
        <p:nvSpPr>
          <p:cNvPr id="10" name="themes-span-9">
            <a:extLst xmlns:a="http://schemas.openxmlformats.org/drawingml/2006/main">
              <a:ext uri="{FF2B5EF4-FFF2-40B4-BE49-F238E27FC236}">
                <a16:creationId xmlns:a16="http://schemas.microsoft.com/office/drawing/2014/main" id="{C38D7151-2834-4C08-9C03-C6589F9A1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7289483"/>
            <a:ext cx="629692" cy="3954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59" b="0" spc="0" kern="0">
                <a:solidFill>
                  <a:srgbClr val="979693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2359" b="0" spc="0" kern="0">
                <a:solidFill>
                  <a:srgbClr val="979693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2359" b="0" spc="0" kern="0">
                <a:solidFill>
                  <a:srgbClr val="979693"/>
                </a:solidFill>
                <a:latin typeface="Finlandica Text"/>
                <a:ea typeface="Finlandica Text"/>
                <a:cs typeface="Finlandica Text"/>
              </a:rPr>
              <a:t>03</a:t>
            </a:r>
          </a:p>
        </p:txBody>
      </p:sp>
      <p:sp>
        <p:nvSpPr>
          <p:cNvPr id="11" name="themes-strong-10">
            <a:extLst xmlns:a="http://schemas.openxmlformats.org/drawingml/2006/main">
              <a:ext uri="{FF2B5EF4-FFF2-40B4-BE49-F238E27FC236}">
                <a16:creationId xmlns:a16="http://schemas.microsoft.com/office/drawing/2014/main" id="{073D9E8C-EE19-4430-B263-A77E96BCC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7748" y="6956638"/>
            <a:ext cx="10904934" cy="8347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4980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defPPr>
          </a:lstStyle>
          <a:p xmlns:a="http://schemas.openxmlformats.org/drawingml/2006/main">
            <a:pPr algn="l">
              <a:defRPr sz="4980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pPr>
            <a:r>
              <a:rPr sz="4980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rPr>
              <a:t>LEADERSHIP &amp; GOVERNANCE FOR AI</a:t>
            </a:r>
          </a:p>
        </p:txBody>
      </p:sp>
      <p:sp>
        <p:nvSpPr>
          <p:cNvPr id="12" name="themes-strong-11">
            <a:extLst xmlns:a="http://schemas.openxmlformats.org/drawingml/2006/main">
              <a:ext uri="{FF2B5EF4-FFF2-40B4-BE49-F238E27FC236}">
                <a16:creationId xmlns:a16="http://schemas.microsoft.com/office/drawing/2014/main" id="{59241264-2C32-4D93-81D9-FCE0F36F7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7748" y="7620560"/>
            <a:ext cx="3244453" cy="8347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4980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defPPr>
          </a:lstStyle>
          <a:p xmlns:a="http://schemas.openxmlformats.org/drawingml/2006/main">
            <a:pPr algn="l">
              <a:defRPr sz="4980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pPr>
            <a:r>
              <a:rPr sz="4980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rPr>
              <a:t>ADOPTION</a:t>
            </a:r>
          </a:p>
        </p:txBody>
      </p:sp>
      <p:sp>
        <p:nvSpPr>
          <p:cNvPr id="13" name="themes-span-12">
            <a:extLst xmlns:a="http://schemas.openxmlformats.org/drawingml/2006/main">
              <a:ext uri="{FF2B5EF4-FFF2-40B4-BE49-F238E27FC236}">
                <a16:creationId xmlns:a16="http://schemas.microsoft.com/office/drawing/2014/main" id="{3A97FD8C-E33B-484A-AE46-2519F1D9F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9440446"/>
            <a:ext cx="1700808" cy="230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rPr>
              <a:t>AI MEETS SDLC</a:t>
            </a:r>
          </a:p>
        </p:txBody>
      </p:sp>
      <p:sp>
        <p:nvSpPr>
          <p:cNvPr id="14" name="themes-span-13">
            <a:extLst xmlns:a="http://schemas.openxmlformats.org/drawingml/2006/main">
              <a:ext uri="{FF2B5EF4-FFF2-40B4-BE49-F238E27FC236}">
                <a16:creationId xmlns:a16="http://schemas.microsoft.com/office/drawing/2014/main" id="{A65540EB-4035-4F4E-977C-B1A8ACE31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04345" y="9440446"/>
            <a:ext cx="789384" cy="230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rPr>
              <a:t>3 / 12</a:t>
            </a:r>
          </a:p>
        </p:txBody>
      </p:sp>
    </p:spTree>
    <p:extLst>
      <p:ext uri="{BB962C8B-B14F-4D97-AF65-F5344CB8AC3E}">
        <p14:creationId xmlns:p14="http://schemas.microsoft.com/office/powerpoint/2010/main" val="10622828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8080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BF1A661-5EA7-4E2D-A663-7B6D37581E4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e3f5e5cfff4814"/>
          <a:stretch xmlns:a="http://schemas.openxmlformats.org/drawingml/2006/main"/>
        </p:blipFill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</p:spPr>
      </p:pic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B1413D-BC70-45DA-AF9E-821AC8E8AF0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9843412f604267"/>
          <a:stretch xmlns:a="http://schemas.openxmlformats.org/drawingml/2006/main"/>
        </p:blipFill>
        <p:spPr>
          <a:xfrm xmlns:a="http://schemas.openxmlformats.org/drawingml/2006/main">
            <a:off x="827720" y="3256062"/>
            <a:ext cx="2999308" cy="1863923"/>
          </a:xfrm>
          <a:prstGeom xmlns:a="http://schemas.openxmlformats.org/drawingml/2006/main" prst="rect">
            <a:avLst/>
          </a:prstGeom>
        </p:spPr>
      </p:pic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528EC4-B73C-4E32-B3CB-B5B15C08306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53c20543e64c84"/>
          <a:stretch xmlns:a="http://schemas.openxmlformats.org/drawingml/2006/main"/>
        </p:blipFill>
        <p:spPr>
          <a:xfrm xmlns:a="http://schemas.openxmlformats.org/drawingml/2006/main">
            <a:off x="4236033" y="3256062"/>
            <a:ext cx="2999308" cy="1863923"/>
          </a:xfrm>
          <a:prstGeom xmlns:a="http://schemas.openxmlformats.org/drawingml/2006/main" prst="rect">
            <a:avLst/>
          </a:prstGeom>
        </p:spPr>
      </p:pic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C9B175-8BB8-4AB2-9C28-0F4F4B061D1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0d992c584f4d03"/>
          <a:stretch xmlns:a="http://schemas.openxmlformats.org/drawingml/2006/main"/>
        </p:blipFill>
        <p:spPr>
          <a:xfrm xmlns:a="http://schemas.openxmlformats.org/drawingml/2006/main">
            <a:off x="7649077" y="3256062"/>
            <a:ext cx="2989847" cy="1863923"/>
          </a:xfrm>
          <a:prstGeom xmlns:a="http://schemas.openxmlformats.org/drawingml/2006/main" prst="rect">
            <a:avLst/>
          </a:prstGeom>
        </p:spPr>
      </p:pic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C6F2A0-F92C-4331-8FD8-D23BD0ECADF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90e158fb6d4feb"/>
          <a:stretch xmlns:a="http://schemas.openxmlformats.org/drawingml/2006/main"/>
        </p:blipFill>
        <p:spPr>
          <a:xfrm xmlns:a="http://schemas.openxmlformats.org/drawingml/2006/main">
            <a:off x="11052659" y="3256062"/>
            <a:ext cx="2999308" cy="1863923"/>
          </a:xfrm>
          <a:prstGeom xmlns:a="http://schemas.openxmlformats.org/drawingml/2006/main" prst="rect">
            <a:avLst/>
          </a:prstGeom>
        </p:spPr>
      </p:pic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765020-8891-4EC0-B779-03B37F44047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b361cf17db4937"/>
          <a:stretch xmlns:a="http://schemas.openxmlformats.org/drawingml/2006/main"/>
        </p:blipFill>
        <p:spPr>
          <a:xfrm xmlns:a="http://schemas.openxmlformats.org/drawingml/2006/main">
            <a:off x="14460972" y="3256062"/>
            <a:ext cx="2999308" cy="1863923"/>
          </a:xfrm>
          <a:prstGeom xmlns:a="http://schemas.openxmlformats.org/drawingml/2006/main" prst="rect">
            <a:avLst/>
          </a:prstGeom>
        </p:spPr>
      </p:pic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489088-67EA-41BD-BFD9-8D753E0276E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39c72007c64bce"/>
          <a:stretch xmlns:a="http://schemas.openxmlformats.org/drawingml/2006/main"/>
        </p:blipFill>
        <p:spPr>
          <a:xfrm xmlns:a="http://schemas.openxmlformats.org/drawingml/2006/main">
            <a:off x="827720" y="6120408"/>
            <a:ext cx="2999308" cy="1863923"/>
          </a:xfrm>
          <a:prstGeom xmlns:a="http://schemas.openxmlformats.org/drawingml/2006/main" prst="rect">
            <a:avLst/>
          </a:prstGeom>
        </p:spPr>
      </p:pic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372D2B-FB76-4C45-B228-896A0F16A60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e65e0c95c94353"/>
          <a:stretch xmlns:a="http://schemas.openxmlformats.org/drawingml/2006/main"/>
        </p:blipFill>
        <p:spPr>
          <a:xfrm xmlns:a="http://schemas.openxmlformats.org/drawingml/2006/main">
            <a:off x="4236033" y="6120408"/>
            <a:ext cx="2999308" cy="1863923"/>
          </a:xfrm>
          <a:prstGeom xmlns:a="http://schemas.openxmlformats.org/drawingml/2006/main" prst="rect">
            <a:avLst/>
          </a:prstGeom>
        </p:spPr>
      </p:pic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C94EFE-F7E8-4FE3-A854-BE711C7D872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7795090ecb42a6"/>
          <a:stretch xmlns:a="http://schemas.openxmlformats.org/drawingml/2006/main"/>
        </p:blipFill>
        <p:spPr>
          <a:xfrm xmlns:a="http://schemas.openxmlformats.org/drawingml/2006/main">
            <a:off x="7649077" y="6120408"/>
            <a:ext cx="2989847" cy="1863923"/>
          </a:xfrm>
          <a:prstGeom xmlns:a="http://schemas.openxmlformats.org/drawingml/2006/main" prst="rect">
            <a:avLst/>
          </a:prstGeom>
        </p:spPr>
      </p:pic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50BB9F-438B-4CFE-ABB3-EBB186E6125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ee1164cd3c4457"/>
          <a:stretch xmlns:a="http://schemas.openxmlformats.org/drawingml/2006/main"/>
        </p:blipFill>
        <p:spPr>
          <a:xfrm xmlns:a="http://schemas.openxmlformats.org/drawingml/2006/main">
            <a:off x="11052659" y="6120408"/>
            <a:ext cx="2999308" cy="1863923"/>
          </a:xfrm>
          <a:prstGeom xmlns:a="http://schemas.openxmlformats.org/drawingml/2006/main" prst="rect">
            <a:avLst/>
          </a:prstGeom>
        </p:spPr>
      </p:pic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4776FE-59EF-459A-A33E-D985115CD9B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d0c143594b483c"/>
          <a:stretch xmlns:a="http://schemas.openxmlformats.org/drawingml/2006/main"/>
        </p:blipFill>
        <p:spPr>
          <a:xfrm xmlns:a="http://schemas.openxmlformats.org/drawingml/2006/main">
            <a:off x="14460972" y="6120408"/>
            <a:ext cx="2999308" cy="1863923"/>
          </a:xfrm>
          <a:prstGeom xmlns:a="http://schemas.openxmlformats.org/drawingml/2006/main" prst="rect">
            <a:avLst/>
          </a:prstGeom>
        </p:spPr>
      </p:pic>
      <p:sp>
        <p:nvSpPr>
          <p:cNvPr id="12" name="speakers-span-1">
            <a:extLst xmlns:a="http://schemas.openxmlformats.org/drawingml/2006/main">
              <a:ext uri="{FF2B5EF4-FFF2-40B4-BE49-F238E27FC236}">
                <a16:creationId xmlns:a16="http://schemas.microsoft.com/office/drawing/2014/main" id="{FCC201EF-6C82-4BA8-8EF9-F6CB44A28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595168"/>
            <a:ext cx="1216670" cy="3734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28" b="1" spc="83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defPPr>
          </a:lstStyle>
          <a:p xmlns:a="http://schemas.openxmlformats.org/drawingml/2006/main">
            <a:pPr algn="l">
              <a:defRPr sz="2228" b="1" spc="83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pPr>
            <a:r>
              <a:rPr sz="2228" b="1" spc="83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rPr>
              <a:t>SDLCAI</a:t>
            </a:r>
          </a:p>
        </p:txBody>
      </p:sp>
      <p:sp>
        <p:nvSpPr>
          <p:cNvPr id="13" name="speakers-span-2">
            <a:extLst xmlns:a="http://schemas.openxmlformats.org/drawingml/2006/main">
              <a:ext uri="{FF2B5EF4-FFF2-40B4-BE49-F238E27FC236}">
                <a16:creationId xmlns:a16="http://schemas.microsoft.com/office/drawing/2014/main" id="{0C7949C5-B26A-4E89-B323-82965EEFA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80853" y="662117"/>
            <a:ext cx="3012877" cy="230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rPr>
              <a:t>13 OCTOBER 2026 / MARSIO</a:t>
            </a:r>
          </a:p>
        </p:txBody>
      </p:sp>
      <p:sp>
        <p:nvSpPr>
          <p:cNvPr id="14" name="speakers-h1-3">
            <a:extLst xmlns:a="http://schemas.openxmlformats.org/drawingml/2006/main">
              <a:ext uri="{FF2B5EF4-FFF2-40B4-BE49-F238E27FC236}">
                <a16:creationId xmlns:a16="http://schemas.microsoft.com/office/drawing/2014/main" id="{4BAA30CA-D40D-4137-AEAB-DE26170EB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1831673"/>
            <a:ext cx="8766572" cy="12741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7600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defPPr>
          </a:lstStyle>
          <a:p xmlns:a="http://schemas.openxmlformats.org/drawingml/2006/main">
            <a:pPr algn="l">
              <a:defRPr sz="7600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pPr>
            <a:r>
              <a:rPr sz="7600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rPr>
              <a:t>TODAY’S SPEAKERS</a:t>
            </a:r>
          </a:p>
        </p:txBody>
      </p:sp>
      <p:sp>
        <p:nvSpPr>
          <p:cNvPr id="15" name="speakers-figcaption-4">
            <a:extLst xmlns:a="http://schemas.openxmlformats.org/drawingml/2006/main">
              <a:ext uri="{FF2B5EF4-FFF2-40B4-BE49-F238E27FC236}">
                <a16:creationId xmlns:a16="http://schemas.microsoft.com/office/drawing/2014/main" id="{66A9581A-1791-40A3-B99D-49CE7B561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5191562"/>
            <a:ext cx="1710184" cy="3624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rPr>
              <a:t>Mo Khazali</a:t>
            </a:r>
          </a:p>
        </p:txBody>
      </p:sp>
      <p:sp>
        <p:nvSpPr>
          <p:cNvPr id="16" name="speakers-figcaption-5">
            <a:extLst xmlns:a="http://schemas.openxmlformats.org/drawingml/2006/main">
              <a:ext uri="{FF2B5EF4-FFF2-40B4-BE49-F238E27FC236}">
                <a16:creationId xmlns:a16="http://schemas.microsoft.com/office/drawing/2014/main" id="{6B67F1A9-FC61-45BA-9A40-8399D0178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1184" y="5191562"/>
            <a:ext cx="2617440" cy="3624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rPr>
              <a:t>Ohans Emmanuel</a:t>
            </a:r>
          </a:p>
        </p:txBody>
      </p:sp>
      <p:sp>
        <p:nvSpPr>
          <p:cNvPr id="17" name="speakers-figcaption-6">
            <a:extLst xmlns:a="http://schemas.openxmlformats.org/drawingml/2006/main">
              <a:ext uri="{FF2B5EF4-FFF2-40B4-BE49-F238E27FC236}">
                <a16:creationId xmlns:a16="http://schemas.microsoft.com/office/drawing/2014/main" id="{2CCF9B30-C310-4774-8CBB-49EABA13F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496" y="5191562"/>
            <a:ext cx="2572941" cy="3624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rPr>
              <a:t>Jenni Kylmäkoski</a:t>
            </a:r>
          </a:p>
        </p:txBody>
      </p:sp>
      <p:sp>
        <p:nvSpPr>
          <p:cNvPr id="18" name="speakers-figcaption-7">
            <a:extLst xmlns:a="http://schemas.openxmlformats.org/drawingml/2006/main">
              <a:ext uri="{FF2B5EF4-FFF2-40B4-BE49-F238E27FC236}">
                <a16:creationId xmlns:a16="http://schemas.microsoft.com/office/drawing/2014/main" id="{F595E1E1-C06D-41D5-9791-D32346BDD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7809" y="5191562"/>
            <a:ext cx="2238077" cy="3624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rPr>
              <a:t>Dr Muhammad</a:t>
            </a:r>
          </a:p>
        </p:txBody>
      </p:sp>
      <p:sp>
        <p:nvSpPr>
          <p:cNvPr id="19" name="speakers-figcaption-8">
            <a:extLst xmlns:a="http://schemas.openxmlformats.org/drawingml/2006/main">
              <a:ext uri="{FF2B5EF4-FFF2-40B4-BE49-F238E27FC236}">
                <a16:creationId xmlns:a16="http://schemas.microsoft.com/office/drawing/2014/main" id="{2C5A2AE5-9550-41CE-AF93-5D530F9DF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7809" y="5488028"/>
            <a:ext cx="1381571" cy="3624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rPr>
              <a:t>Waseem</a:t>
            </a:r>
          </a:p>
        </p:txBody>
      </p:sp>
      <p:sp>
        <p:nvSpPr>
          <p:cNvPr id="20" name="speakers-figcaption-9">
            <a:extLst xmlns:a="http://schemas.openxmlformats.org/drawingml/2006/main">
              <a:ext uri="{FF2B5EF4-FFF2-40B4-BE49-F238E27FC236}">
                <a16:creationId xmlns:a16="http://schemas.microsoft.com/office/drawing/2014/main" id="{28C1811F-9CD2-4157-AB59-964A5A472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56122" y="5191562"/>
            <a:ext cx="2470100" cy="3624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rPr>
              <a:t>Tapio Pitkäranta</a:t>
            </a:r>
          </a:p>
        </p:txBody>
      </p:sp>
      <p:sp>
        <p:nvSpPr>
          <p:cNvPr id="21" name="speakers-figcaption-10">
            <a:extLst xmlns:a="http://schemas.openxmlformats.org/drawingml/2006/main">
              <a:ext uri="{FF2B5EF4-FFF2-40B4-BE49-F238E27FC236}">
                <a16:creationId xmlns:a16="http://schemas.microsoft.com/office/drawing/2014/main" id="{4860F137-7811-4147-B39C-9218D6BE0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8055908"/>
            <a:ext cx="1831032" cy="3624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rPr>
              <a:t>Joongi Shin</a:t>
            </a:r>
          </a:p>
        </p:txBody>
      </p:sp>
      <p:sp>
        <p:nvSpPr>
          <p:cNvPr id="22" name="speakers-figcaption-11">
            <a:extLst xmlns:a="http://schemas.openxmlformats.org/drawingml/2006/main">
              <a:ext uri="{FF2B5EF4-FFF2-40B4-BE49-F238E27FC236}">
                <a16:creationId xmlns:a16="http://schemas.microsoft.com/office/drawing/2014/main" id="{DEFBADE2-ADB2-47BC-9596-077249C23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1184" y="8055908"/>
            <a:ext cx="1983284" cy="3624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rPr>
              <a:t>Jussi Hacklin</a:t>
            </a:r>
          </a:p>
        </p:txBody>
      </p:sp>
      <p:sp>
        <p:nvSpPr>
          <p:cNvPr id="23" name="speakers-figcaption-12">
            <a:extLst xmlns:a="http://schemas.openxmlformats.org/drawingml/2006/main">
              <a:ext uri="{FF2B5EF4-FFF2-40B4-BE49-F238E27FC236}">
                <a16:creationId xmlns:a16="http://schemas.microsoft.com/office/drawing/2014/main" id="{0FF9ED3D-3975-4CF4-8122-58A3033A2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496" y="8055908"/>
            <a:ext cx="2838748" cy="3624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rPr>
              <a:t>Viljami Kuosmanen</a:t>
            </a:r>
          </a:p>
        </p:txBody>
      </p:sp>
      <p:sp>
        <p:nvSpPr>
          <p:cNvPr id="24" name="speakers-figcaption-13">
            <a:extLst xmlns:a="http://schemas.openxmlformats.org/drawingml/2006/main">
              <a:ext uri="{FF2B5EF4-FFF2-40B4-BE49-F238E27FC236}">
                <a16:creationId xmlns:a16="http://schemas.microsoft.com/office/drawing/2014/main" id="{863EC00C-BB1E-40F0-B2B2-52E460875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7809" y="8055908"/>
            <a:ext cx="2187625" cy="3624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rPr>
              <a:t>Sini Tistelgrén</a:t>
            </a:r>
          </a:p>
        </p:txBody>
      </p:sp>
      <p:sp>
        <p:nvSpPr>
          <p:cNvPr id="25" name="speakers-figcaption-14">
            <a:extLst xmlns:a="http://schemas.openxmlformats.org/drawingml/2006/main">
              <a:ext uri="{FF2B5EF4-FFF2-40B4-BE49-F238E27FC236}">
                <a16:creationId xmlns:a16="http://schemas.microsoft.com/office/drawing/2014/main" id="{D3836F33-6A82-4C6C-8A45-DCB37A944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56122" y="8055908"/>
            <a:ext cx="1384697" cy="3624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rPr>
              <a:t>Zak Allal</a:t>
            </a:r>
          </a:p>
        </p:txBody>
      </p:sp>
      <p:sp>
        <p:nvSpPr>
          <p:cNvPr id="26" name="speakers-span-15">
            <a:extLst xmlns:a="http://schemas.openxmlformats.org/drawingml/2006/main">
              <a:ext uri="{FF2B5EF4-FFF2-40B4-BE49-F238E27FC236}">
                <a16:creationId xmlns:a16="http://schemas.microsoft.com/office/drawing/2014/main" id="{82CE00E2-7518-4C06-97A7-7053EE551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9440446"/>
            <a:ext cx="1700808" cy="230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rPr>
              <a:t>AI MEETS SDLC</a:t>
            </a:r>
          </a:p>
        </p:txBody>
      </p:sp>
      <p:sp>
        <p:nvSpPr>
          <p:cNvPr id="27" name="speakers-span-16">
            <a:extLst xmlns:a="http://schemas.openxmlformats.org/drawingml/2006/main">
              <a:ext uri="{FF2B5EF4-FFF2-40B4-BE49-F238E27FC236}">
                <a16:creationId xmlns:a16="http://schemas.microsoft.com/office/drawing/2014/main" id="{5B75F688-12EF-4832-815E-40BF1D29A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05833" y="9440446"/>
            <a:ext cx="787896" cy="230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rPr>
              <a:t>4 / 12</a:t>
            </a:r>
          </a:p>
        </p:txBody>
      </p:sp>
    </p:spTree>
    <p:extLst>
      <p:ext uri="{BB962C8B-B14F-4D97-AF65-F5344CB8AC3E}">
        <p14:creationId xmlns:p14="http://schemas.microsoft.com/office/powerpoint/2010/main" val="206738457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8080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AD41164-0E3D-4457-9E8B-2905466CDAB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761b7cae954e06"/>
          <a:stretch xmlns:a="http://schemas.openxmlformats.org/drawingml/2006/main"/>
        </p:blipFill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</p:spPr>
      </p:pic>
      <p:sp>
        <p:nvSpPr>
          <p:cNvPr id="2" name="schedule-span-1">
            <a:extLst xmlns:a="http://schemas.openxmlformats.org/drawingml/2006/main">
              <a:ext uri="{FF2B5EF4-FFF2-40B4-BE49-F238E27FC236}">
                <a16:creationId xmlns:a16="http://schemas.microsoft.com/office/drawing/2014/main" id="{4872F89E-D562-4830-BF3E-F79ED9F71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595168"/>
            <a:ext cx="1216670" cy="3734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28" b="1" spc="83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defPPr>
          </a:lstStyle>
          <a:p xmlns:a="http://schemas.openxmlformats.org/drawingml/2006/main">
            <a:pPr algn="l">
              <a:defRPr sz="2228" b="1" spc="83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pPr>
            <a:r>
              <a:rPr sz="2228" b="1" spc="83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rPr>
              <a:t>SDLCAI</a:t>
            </a:r>
          </a:p>
        </p:txBody>
      </p:sp>
      <p:sp>
        <p:nvSpPr>
          <p:cNvPr id="3" name="schedule-span-2">
            <a:extLst xmlns:a="http://schemas.openxmlformats.org/drawingml/2006/main">
              <a:ext uri="{FF2B5EF4-FFF2-40B4-BE49-F238E27FC236}">
                <a16:creationId xmlns:a16="http://schemas.microsoft.com/office/drawing/2014/main" id="{D7B54857-51B5-46F1-97EC-C720926B4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80853" y="662117"/>
            <a:ext cx="3012877" cy="230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rPr>
              <a:t>13 OCTOBER 2026 / MARSIO</a:t>
            </a:r>
          </a:p>
        </p:txBody>
      </p:sp>
      <p:sp>
        <p:nvSpPr>
          <p:cNvPr id="4" name="schedule-h1-3">
            <a:extLst xmlns:a="http://schemas.openxmlformats.org/drawingml/2006/main">
              <a:ext uri="{FF2B5EF4-FFF2-40B4-BE49-F238E27FC236}">
                <a16:creationId xmlns:a16="http://schemas.microsoft.com/office/drawing/2014/main" id="{D90E0C5C-4C74-41FA-8C7F-773CDBFF1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1945378"/>
            <a:ext cx="7230070" cy="12741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7600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defPPr>
          </a:lstStyle>
          <a:p xmlns:a="http://schemas.openxmlformats.org/drawingml/2006/main">
            <a:pPr algn="l">
              <a:defRPr sz="7600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pPr>
            <a:r>
              <a:rPr sz="7600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rPr>
              <a:t>THE DAY AHEAD</a:t>
            </a:r>
          </a:p>
        </p:txBody>
      </p:sp>
      <p:sp>
        <p:nvSpPr>
          <p:cNvPr id="5" name="schedule-time-4">
            <a:extLst xmlns:a="http://schemas.openxmlformats.org/drawingml/2006/main">
              <a:ext uri="{FF2B5EF4-FFF2-40B4-BE49-F238E27FC236}">
                <a16:creationId xmlns:a16="http://schemas.microsoft.com/office/drawing/2014/main" id="{9A9AA682-D08F-416A-AD18-8DFAADCFC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3625741"/>
            <a:ext cx="2078385" cy="3624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62" b="0" spc="0" kern="0">
                <a:solidFill>
                  <a:srgbClr val="A5A4A0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2162" b="0" spc="0" kern="0">
                <a:solidFill>
                  <a:srgbClr val="A5A4A0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2162" b="0" spc="0" kern="0">
                <a:solidFill>
                  <a:srgbClr val="A5A4A0"/>
                </a:solidFill>
                <a:latin typeface="Finlandica Text"/>
                <a:ea typeface="Finlandica Text"/>
                <a:cs typeface="Finlandica Text"/>
              </a:rPr>
              <a:t>09:00-10:30</a:t>
            </a:r>
          </a:p>
        </p:txBody>
      </p:sp>
      <p:sp>
        <p:nvSpPr>
          <p:cNvPr id="6" name="schedule-span-5">
            <a:extLst xmlns:a="http://schemas.openxmlformats.org/drawingml/2006/main">
              <a:ext uri="{FF2B5EF4-FFF2-40B4-BE49-F238E27FC236}">
                <a16:creationId xmlns:a16="http://schemas.microsoft.com/office/drawing/2014/main" id="{6AEAAC8D-239B-40A2-8E90-F60DA4AAE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6236" y="3567493"/>
            <a:ext cx="3632895" cy="4393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621" b="0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2621" b="0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2621" b="0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rPr>
              <a:t>Industry perspectives</a:t>
            </a:r>
          </a:p>
        </p:txBody>
      </p:sp>
      <p:sp>
        <p:nvSpPr>
          <p:cNvPr id="7" name="schedule-time-6">
            <a:extLst xmlns:a="http://schemas.openxmlformats.org/drawingml/2006/main">
              <a:ext uri="{FF2B5EF4-FFF2-40B4-BE49-F238E27FC236}">
                <a16:creationId xmlns:a16="http://schemas.microsoft.com/office/drawing/2014/main" id="{DE2A44AD-A947-4F2E-957B-B06919659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4450398"/>
            <a:ext cx="2062163" cy="3624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62" b="0" spc="0" kern="0">
                <a:solidFill>
                  <a:srgbClr val="A5A4A0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2162" b="0" spc="0" kern="0">
                <a:solidFill>
                  <a:srgbClr val="A5A4A0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2162" b="0" spc="0" kern="0">
                <a:solidFill>
                  <a:srgbClr val="A5A4A0"/>
                </a:solidFill>
                <a:latin typeface="Finlandica Text"/>
                <a:ea typeface="Finlandica Text"/>
                <a:cs typeface="Finlandica Text"/>
              </a:rPr>
              <a:t>10:30-11:00</a:t>
            </a:r>
          </a:p>
        </p:txBody>
      </p:sp>
      <p:sp>
        <p:nvSpPr>
          <p:cNvPr id="8" name="schedule-span-7">
            <a:extLst xmlns:a="http://schemas.openxmlformats.org/drawingml/2006/main">
              <a:ext uri="{FF2B5EF4-FFF2-40B4-BE49-F238E27FC236}">
                <a16:creationId xmlns:a16="http://schemas.microsoft.com/office/drawing/2014/main" id="{C932099B-D12A-46B9-B5E7-E080D88E6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6236" y="4392150"/>
            <a:ext cx="1116657" cy="4393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621" b="0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2621" b="0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2621" b="0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rPr>
              <a:t>Break</a:t>
            </a:r>
          </a:p>
        </p:txBody>
      </p:sp>
      <p:sp>
        <p:nvSpPr>
          <p:cNvPr id="9" name="schedule-time-8">
            <a:extLst xmlns:a="http://schemas.openxmlformats.org/drawingml/2006/main">
              <a:ext uri="{FF2B5EF4-FFF2-40B4-BE49-F238E27FC236}">
                <a16:creationId xmlns:a16="http://schemas.microsoft.com/office/drawing/2014/main" id="{D3CEE613-5B91-4300-AF74-69B4F3503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5275055"/>
            <a:ext cx="2045940" cy="3624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62" b="0" spc="0" kern="0">
                <a:solidFill>
                  <a:srgbClr val="A5A4A0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2162" b="0" spc="0" kern="0">
                <a:solidFill>
                  <a:srgbClr val="A5A4A0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2162" b="0" spc="0" kern="0">
                <a:solidFill>
                  <a:srgbClr val="A5A4A0"/>
                </a:solidFill>
                <a:latin typeface="Finlandica Text"/>
                <a:ea typeface="Finlandica Text"/>
                <a:cs typeface="Finlandica Text"/>
              </a:rPr>
              <a:t>11:00-12:30</a:t>
            </a:r>
          </a:p>
        </p:txBody>
      </p:sp>
      <p:sp>
        <p:nvSpPr>
          <p:cNvPr id="10" name="schedule-span-9">
            <a:extLst xmlns:a="http://schemas.openxmlformats.org/drawingml/2006/main">
              <a:ext uri="{FF2B5EF4-FFF2-40B4-BE49-F238E27FC236}">
                <a16:creationId xmlns:a16="http://schemas.microsoft.com/office/drawing/2014/main" id="{2181BFA7-0009-4763-90A5-BC59F9B5D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6236" y="5216807"/>
            <a:ext cx="3575298" cy="4393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621" b="0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2621" b="0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2621" b="0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rPr>
              <a:t>Views from academia</a:t>
            </a:r>
          </a:p>
        </p:txBody>
      </p:sp>
      <p:sp>
        <p:nvSpPr>
          <p:cNvPr id="11" name="schedule-time-10">
            <a:extLst xmlns:a="http://schemas.openxmlformats.org/drawingml/2006/main">
              <a:ext uri="{FF2B5EF4-FFF2-40B4-BE49-F238E27FC236}">
                <a16:creationId xmlns:a16="http://schemas.microsoft.com/office/drawing/2014/main" id="{D48417A3-FCA5-4DFF-817B-605CDEC23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6099711"/>
            <a:ext cx="2029718" cy="3624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62" b="0" spc="0" kern="0">
                <a:solidFill>
                  <a:srgbClr val="A5A4A0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2162" b="0" spc="0" kern="0">
                <a:solidFill>
                  <a:srgbClr val="A5A4A0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2162" b="0" spc="0" kern="0">
                <a:solidFill>
                  <a:srgbClr val="A5A4A0"/>
                </a:solidFill>
                <a:latin typeface="Finlandica Text"/>
                <a:ea typeface="Finlandica Text"/>
                <a:cs typeface="Finlandica Text"/>
              </a:rPr>
              <a:t>12:30-13:30</a:t>
            </a:r>
          </a:p>
        </p:txBody>
      </p:sp>
      <p:sp>
        <p:nvSpPr>
          <p:cNvPr id="12" name="schedule-span-11">
            <a:extLst xmlns:a="http://schemas.openxmlformats.org/drawingml/2006/main">
              <a:ext uri="{FF2B5EF4-FFF2-40B4-BE49-F238E27FC236}">
                <a16:creationId xmlns:a16="http://schemas.microsoft.com/office/drawing/2014/main" id="{F1BAA3CA-BA1A-4785-B6BE-21941630A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6236" y="6041463"/>
            <a:ext cx="3115717" cy="4393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621" b="0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2621" b="0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2621" b="0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rPr>
              <a:t>Lunch and posters</a:t>
            </a:r>
          </a:p>
        </p:txBody>
      </p:sp>
      <p:sp>
        <p:nvSpPr>
          <p:cNvPr id="13" name="schedule-time-12">
            <a:extLst xmlns:a="http://schemas.openxmlformats.org/drawingml/2006/main">
              <a:ext uri="{FF2B5EF4-FFF2-40B4-BE49-F238E27FC236}">
                <a16:creationId xmlns:a16="http://schemas.microsoft.com/office/drawing/2014/main" id="{5EA41F6F-7E96-45D3-A7B5-A40B8C6B2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6780" y="3625741"/>
            <a:ext cx="2045940" cy="3624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62" b="0" spc="0" kern="0">
                <a:solidFill>
                  <a:srgbClr val="A5A4A0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2162" b="0" spc="0" kern="0">
                <a:solidFill>
                  <a:srgbClr val="A5A4A0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2162" b="0" spc="0" kern="0">
                <a:solidFill>
                  <a:srgbClr val="A5A4A0"/>
                </a:solidFill>
                <a:latin typeface="Finlandica Text"/>
                <a:ea typeface="Finlandica Text"/>
                <a:cs typeface="Finlandica Text"/>
              </a:rPr>
              <a:t>13:30-15:00</a:t>
            </a:r>
          </a:p>
        </p:txBody>
      </p:sp>
      <p:sp>
        <p:nvSpPr>
          <p:cNvPr id="14" name="schedule-span-13">
            <a:extLst xmlns:a="http://schemas.openxmlformats.org/drawingml/2006/main">
              <a:ext uri="{FF2B5EF4-FFF2-40B4-BE49-F238E27FC236}">
                <a16:creationId xmlns:a16="http://schemas.microsoft.com/office/drawing/2014/main" id="{0B3B4D93-353D-45EA-94A2-6AF79DD37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40145" y="3567493"/>
            <a:ext cx="3373338" cy="4393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621" b="0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2621" b="0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2621" b="0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rPr>
              <a:t>Views from industry</a:t>
            </a:r>
          </a:p>
        </p:txBody>
      </p:sp>
      <p:sp>
        <p:nvSpPr>
          <p:cNvPr id="15" name="schedule-time-14">
            <a:extLst xmlns:a="http://schemas.openxmlformats.org/drawingml/2006/main">
              <a:ext uri="{FF2B5EF4-FFF2-40B4-BE49-F238E27FC236}">
                <a16:creationId xmlns:a16="http://schemas.microsoft.com/office/drawing/2014/main" id="{7502ED46-37E0-4344-9A98-D270DA9AD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6780" y="4450398"/>
            <a:ext cx="2045940" cy="3624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62" b="0" spc="0" kern="0">
                <a:solidFill>
                  <a:srgbClr val="A5A4A0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2162" b="0" spc="0" kern="0">
                <a:solidFill>
                  <a:srgbClr val="A5A4A0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2162" b="0" spc="0" kern="0">
                <a:solidFill>
                  <a:srgbClr val="A5A4A0"/>
                </a:solidFill>
                <a:latin typeface="Finlandica Text"/>
                <a:ea typeface="Finlandica Text"/>
                <a:cs typeface="Finlandica Text"/>
              </a:rPr>
              <a:t>15:00-15:30</a:t>
            </a:r>
          </a:p>
        </p:txBody>
      </p:sp>
      <p:sp>
        <p:nvSpPr>
          <p:cNvPr id="16" name="schedule-span-15">
            <a:extLst xmlns:a="http://schemas.openxmlformats.org/drawingml/2006/main">
              <a:ext uri="{FF2B5EF4-FFF2-40B4-BE49-F238E27FC236}">
                <a16:creationId xmlns:a16="http://schemas.microsoft.com/office/drawing/2014/main" id="{2F02AAE1-DB0B-4387-B86A-2C8E55FAB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40145" y="4392150"/>
            <a:ext cx="2762250" cy="4393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621" b="0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2621" b="0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2621" b="0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rPr>
              <a:t>Afternoon break</a:t>
            </a:r>
          </a:p>
        </p:txBody>
      </p:sp>
      <p:sp>
        <p:nvSpPr>
          <p:cNvPr id="17" name="schedule-time-16">
            <a:extLst xmlns:a="http://schemas.openxmlformats.org/drawingml/2006/main">
              <a:ext uri="{FF2B5EF4-FFF2-40B4-BE49-F238E27FC236}">
                <a16:creationId xmlns:a16="http://schemas.microsoft.com/office/drawing/2014/main" id="{D1C6921F-B42B-4CB8-979C-F9022F252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6780" y="5275055"/>
            <a:ext cx="2045940" cy="3624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62" b="0" spc="0" kern="0">
                <a:solidFill>
                  <a:srgbClr val="A5A4A0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2162" b="0" spc="0" kern="0">
                <a:solidFill>
                  <a:srgbClr val="A5A4A0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2162" b="0" spc="0" kern="0">
                <a:solidFill>
                  <a:srgbClr val="A5A4A0"/>
                </a:solidFill>
                <a:latin typeface="Finlandica Text"/>
                <a:ea typeface="Finlandica Text"/>
                <a:cs typeface="Finlandica Text"/>
              </a:rPr>
              <a:t>15:30-17:00</a:t>
            </a:r>
          </a:p>
        </p:txBody>
      </p:sp>
      <p:sp>
        <p:nvSpPr>
          <p:cNvPr id="18" name="schedule-span-17">
            <a:extLst xmlns:a="http://schemas.openxmlformats.org/drawingml/2006/main">
              <a:ext uri="{FF2B5EF4-FFF2-40B4-BE49-F238E27FC236}">
                <a16:creationId xmlns:a16="http://schemas.microsoft.com/office/drawing/2014/main" id="{63BCF233-F5C9-4AB4-B3C8-A14FDAAA1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40145" y="5216807"/>
            <a:ext cx="1758851" cy="4393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621" b="0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2621" b="0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2621" b="0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rPr>
              <a:t>Academia</a:t>
            </a:r>
          </a:p>
        </p:txBody>
      </p:sp>
      <p:sp>
        <p:nvSpPr>
          <p:cNvPr id="19" name="schedule-time-18">
            <a:extLst xmlns:a="http://schemas.openxmlformats.org/drawingml/2006/main">
              <a:ext uri="{FF2B5EF4-FFF2-40B4-BE49-F238E27FC236}">
                <a16:creationId xmlns:a16="http://schemas.microsoft.com/office/drawing/2014/main" id="{C1835F11-67ED-4EB9-BF60-8B583DCD7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6780" y="6099711"/>
            <a:ext cx="2029718" cy="3624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62" b="0" spc="0" kern="0">
                <a:solidFill>
                  <a:srgbClr val="A5A4A0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2162" b="0" spc="0" kern="0">
                <a:solidFill>
                  <a:srgbClr val="A5A4A0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2162" b="0" spc="0" kern="0">
                <a:solidFill>
                  <a:srgbClr val="A5A4A0"/>
                </a:solidFill>
                <a:latin typeface="Finlandica Text"/>
                <a:ea typeface="Finlandica Text"/>
                <a:cs typeface="Finlandica Text"/>
              </a:rPr>
              <a:t>17:00-17:15</a:t>
            </a:r>
          </a:p>
        </p:txBody>
      </p:sp>
      <p:sp>
        <p:nvSpPr>
          <p:cNvPr id="20" name="schedule-span-19">
            <a:extLst xmlns:a="http://schemas.openxmlformats.org/drawingml/2006/main">
              <a:ext uri="{FF2B5EF4-FFF2-40B4-BE49-F238E27FC236}">
                <a16:creationId xmlns:a16="http://schemas.microsoft.com/office/drawing/2014/main" id="{08DDC359-BF42-4266-B905-B307CE256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40145" y="6041463"/>
            <a:ext cx="1577132" cy="4393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621" b="0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2621" b="0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2621" b="0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rPr>
              <a:t>Wrap-up</a:t>
            </a:r>
          </a:p>
        </p:txBody>
      </p:sp>
      <p:sp>
        <p:nvSpPr>
          <p:cNvPr id="21" name="schedule-time-20">
            <a:extLst xmlns:a="http://schemas.openxmlformats.org/drawingml/2006/main">
              <a:ext uri="{FF2B5EF4-FFF2-40B4-BE49-F238E27FC236}">
                <a16:creationId xmlns:a16="http://schemas.microsoft.com/office/drawing/2014/main" id="{634E0FE3-6B72-4F2B-B18B-A82FCFA3D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6780" y="6924368"/>
            <a:ext cx="2029718" cy="3624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62" b="0" spc="0" kern="0">
                <a:solidFill>
                  <a:srgbClr val="A5A4A0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2162" b="0" spc="0" kern="0">
                <a:solidFill>
                  <a:srgbClr val="A5A4A0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2162" b="0" spc="0" kern="0">
                <a:solidFill>
                  <a:srgbClr val="A5A4A0"/>
                </a:solidFill>
                <a:latin typeface="Finlandica Text"/>
                <a:ea typeface="Finlandica Text"/>
                <a:cs typeface="Finlandica Text"/>
              </a:rPr>
              <a:t>17:15-21:00</a:t>
            </a:r>
          </a:p>
        </p:txBody>
      </p:sp>
      <p:sp>
        <p:nvSpPr>
          <p:cNvPr id="22" name="schedule-span-21">
            <a:extLst xmlns:a="http://schemas.openxmlformats.org/drawingml/2006/main">
              <a:ext uri="{FF2B5EF4-FFF2-40B4-BE49-F238E27FC236}">
                <a16:creationId xmlns:a16="http://schemas.microsoft.com/office/drawing/2014/main" id="{B7E4D9D6-7EFA-40B9-9BA3-F37B6B5DE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40145" y="6866120"/>
            <a:ext cx="1819870" cy="4393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621" b="0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2621" b="0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2621" b="0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rPr>
              <a:t>Afterparty</a:t>
            </a:r>
          </a:p>
        </p:txBody>
      </p:sp>
      <p:sp>
        <p:nvSpPr>
          <p:cNvPr id="23" name="schedule-a-22">
            <a:extLst xmlns:a="http://schemas.openxmlformats.org/drawingml/2006/main">
              <a:ext uri="{FF2B5EF4-FFF2-40B4-BE49-F238E27FC236}">
                <a16:creationId xmlns:a16="http://schemas.microsoft.com/office/drawing/2014/main" id="{833C6618-9693-4B4D-AD63-74352D2D3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7826359"/>
            <a:ext cx="6243786" cy="4393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621" b="0" u="sng" spc="0" kern="0">
                <a:solidFill>
                  <a:srgbClr val="B3B2A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2621" b="0" u="sng" spc="0" kern="0">
                <a:solidFill>
                  <a:srgbClr val="B3B2A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2621" b="0" u="sng" spc="0" kern="0">
                <a:solidFill>
                  <a:srgbClr val="B3B2AE"/>
                </a:solidFill>
                <a:latin typeface="Finlandica Text"/>
                <a:ea typeface="Finlandica Text"/>
                <a:cs typeface="Finlandica Text"/>
                <a:hlinkClick xmlns:r="http://schemas.openxmlformats.org/officeDocument/2006/relationships" r:id="R364fcb4fdfee4291"/>
              </a:rPr>
              <a:t>Full programme at sdlcai.org/schedule</a:t>
            </a:r>
          </a:p>
        </p:txBody>
      </p:sp>
      <p:sp>
        <p:nvSpPr>
          <p:cNvPr id="24" name="schedule-span-23">
            <a:extLst xmlns:a="http://schemas.openxmlformats.org/drawingml/2006/main">
              <a:ext uri="{FF2B5EF4-FFF2-40B4-BE49-F238E27FC236}">
                <a16:creationId xmlns:a16="http://schemas.microsoft.com/office/drawing/2014/main" id="{400952B7-1384-4270-80A8-F6D25E82D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9440446"/>
            <a:ext cx="1700808" cy="230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rPr>
              <a:t>AI MEETS SDLC</a:t>
            </a:r>
          </a:p>
        </p:txBody>
      </p:sp>
      <p:sp>
        <p:nvSpPr>
          <p:cNvPr id="25" name="schedule-span-24">
            <a:extLst xmlns:a="http://schemas.openxmlformats.org/drawingml/2006/main">
              <a:ext uri="{FF2B5EF4-FFF2-40B4-BE49-F238E27FC236}">
                <a16:creationId xmlns:a16="http://schemas.microsoft.com/office/drawing/2014/main" id="{90F48066-CDB4-4B65-BD8F-ADA92EBA5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06875" y="9440446"/>
            <a:ext cx="786854" cy="230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rPr>
              <a:t>5 / 12</a:t>
            </a:r>
          </a:p>
        </p:txBody>
      </p:sp>
    </p:spTree>
    <p:extLst>
      <p:ext uri="{BB962C8B-B14F-4D97-AF65-F5344CB8AC3E}">
        <p14:creationId xmlns:p14="http://schemas.microsoft.com/office/powerpoint/2010/main" val="62322756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8080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DADDEE-E52E-4EB3-9649-58DB2581892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516f2dbda046b4"/>
          <a:stretch xmlns:a="http://schemas.openxmlformats.org/drawingml/2006/main"/>
        </p:blipFill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</p:spPr>
      </p:pic>
      <p:sp>
        <p:nvSpPr>
          <p:cNvPr id="2" name="afterparty-span-1">
            <a:extLst xmlns:a="http://schemas.openxmlformats.org/drawingml/2006/main">
              <a:ext uri="{FF2B5EF4-FFF2-40B4-BE49-F238E27FC236}">
                <a16:creationId xmlns:a16="http://schemas.microsoft.com/office/drawing/2014/main" id="{4D327A10-6405-4FC5-AD32-47EF53400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595168"/>
            <a:ext cx="1216670" cy="3734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28" b="1" spc="83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defPPr>
          </a:lstStyle>
          <a:p xmlns:a="http://schemas.openxmlformats.org/drawingml/2006/main">
            <a:pPr algn="l">
              <a:defRPr sz="2228" b="1" spc="83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pPr>
            <a:r>
              <a:rPr sz="2228" b="1" spc="83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rPr>
              <a:t>SDLCAI</a:t>
            </a:r>
          </a:p>
        </p:txBody>
      </p:sp>
      <p:sp>
        <p:nvSpPr>
          <p:cNvPr id="3" name="afterparty-span-2">
            <a:extLst xmlns:a="http://schemas.openxmlformats.org/drawingml/2006/main">
              <a:ext uri="{FF2B5EF4-FFF2-40B4-BE49-F238E27FC236}">
                <a16:creationId xmlns:a16="http://schemas.microsoft.com/office/drawing/2014/main" id="{FF1D08CD-53BB-4A60-96E8-84B7211C8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80853" y="662117"/>
            <a:ext cx="3012877" cy="230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rPr>
              <a:t>13 OCTOBER 2026 / MARSIO</a:t>
            </a:r>
          </a:p>
        </p:txBody>
      </p:sp>
      <p:sp>
        <p:nvSpPr>
          <p:cNvPr id="4" name="afterparty-p-3">
            <a:extLst xmlns:a="http://schemas.openxmlformats.org/drawingml/2006/main">
              <a:ext uri="{FF2B5EF4-FFF2-40B4-BE49-F238E27FC236}">
                <a16:creationId xmlns:a16="http://schemas.microsoft.com/office/drawing/2014/main" id="{6230E446-7D9F-4DDF-AFDF-0D7E09410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2953726"/>
            <a:ext cx="2335411" cy="4393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621" b="1" spc="105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2621" b="1" spc="105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2621" b="1" spc="105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rPr>
              <a:t>17:15-21:00</a:t>
            </a:r>
          </a:p>
        </p:txBody>
      </p:sp>
      <p:sp>
        <p:nvSpPr>
          <p:cNvPr id="5" name="afterparty-h1-4">
            <a:extLst xmlns:a="http://schemas.openxmlformats.org/drawingml/2006/main">
              <a:ext uri="{FF2B5EF4-FFF2-40B4-BE49-F238E27FC236}">
                <a16:creationId xmlns:a16="http://schemas.microsoft.com/office/drawing/2014/main" id="{2352E466-BAA5-40E9-977E-2DE453430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3338553"/>
            <a:ext cx="12439799" cy="27459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380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defPPr>
          </a:lstStyle>
          <a:p xmlns:a="http://schemas.openxmlformats.org/drawingml/2006/main">
            <a:pPr algn="l">
              <a:defRPr sz="16380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pPr>
            <a:r>
              <a:rPr sz="16380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rPr>
              <a:t>AFTERPARTY</a:t>
            </a:r>
          </a:p>
        </p:txBody>
      </p:sp>
      <p:sp>
        <p:nvSpPr>
          <p:cNvPr id="6" name="afterparty-p-5">
            <a:extLst xmlns:a="http://schemas.openxmlformats.org/drawingml/2006/main">
              <a:ext uri="{FF2B5EF4-FFF2-40B4-BE49-F238E27FC236}">
                <a16:creationId xmlns:a16="http://schemas.microsoft.com/office/drawing/2014/main" id="{CC09130A-96D1-4C7D-B59C-F391668C1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5983265"/>
            <a:ext cx="5219700" cy="681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4062" b="0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4062" b="0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4062" b="0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rPr>
              <a:t>Right here at Marsio.</a:t>
            </a:r>
          </a:p>
        </p:txBody>
      </p:sp>
      <p:sp>
        <p:nvSpPr>
          <p:cNvPr id="7" name="afterparty-p-6">
            <a:extLst xmlns:a="http://schemas.openxmlformats.org/drawingml/2006/main">
              <a:ext uri="{FF2B5EF4-FFF2-40B4-BE49-F238E27FC236}">
                <a16:creationId xmlns:a16="http://schemas.microsoft.com/office/drawing/2014/main" id="{B44A4A02-C4C3-443C-9B7C-77A5E3422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6964793"/>
            <a:ext cx="6211491" cy="4393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621" b="0" spc="0" kern="0">
                <a:solidFill>
                  <a:srgbClr val="B3B2A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2621" b="0" spc="0" kern="0">
                <a:solidFill>
                  <a:srgbClr val="B3B2A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2621" b="0" spc="0" kern="0">
                <a:solidFill>
                  <a:srgbClr val="B3B2AE"/>
                </a:solidFill>
                <a:latin typeface="Finlandica Text"/>
                <a:ea typeface="Finlandica Text"/>
                <a:cs typeface="Finlandica Text"/>
              </a:rPr>
              <a:t>Food, conversation &amp; time to catch up.</a:t>
            </a:r>
          </a:p>
        </p:txBody>
      </p:sp>
      <p:sp>
        <p:nvSpPr>
          <p:cNvPr id="8" name="afterparty-span-7">
            <a:extLst xmlns:a="http://schemas.openxmlformats.org/drawingml/2006/main">
              <a:ext uri="{FF2B5EF4-FFF2-40B4-BE49-F238E27FC236}">
                <a16:creationId xmlns:a16="http://schemas.microsoft.com/office/drawing/2014/main" id="{49345D2F-4BC2-42D8-A743-D7B7E7416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9440446"/>
            <a:ext cx="1700808" cy="230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rPr>
              <a:t>AI MEETS SDLC</a:t>
            </a:r>
          </a:p>
        </p:txBody>
      </p:sp>
      <p:sp>
        <p:nvSpPr>
          <p:cNvPr id="9" name="afterparty-span-8">
            <a:extLst xmlns:a="http://schemas.openxmlformats.org/drawingml/2006/main">
              <a:ext uri="{FF2B5EF4-FFF2-40B4-BE49-F238E27FC236}">
                <a16:creationId xmlns:a16="http://schemas.microsoft.com/office/drawing/2014/main" id="{05394F52-DD2D-4AAF-8513-070569952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01815" y="9440446"/>
            <a:ext cx="791914" cy="230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rPr>
              <a:t>6 / 12</a:t>
            </a:r>
          </a:p>
        </p:txBody>
      </p:sp>
    </p:spTree>
    <p:extLst>
      <p:ext uri="{BB962C8B-B14F-4D97-AF65-F5344CB8AC3E}">
        <p14:creationId xmlns:p14="http://schemas.microsoft.com/office/powerpoint/2010/main" val="15507319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8080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46C870-6BC7-42D3-A590-9B3CE139327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03440e35b94155"/>
          <a:stretch xmlns:a="http://schemas.openxmlformats.org/drawingml/2006/main"/>
        </p:blipFill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</p:spPr>
      </p:pic>
      <p:sp>
        <p:nvSpPr>
          <p:cNvPr id="2" name="hallway-track-span-1">
            <a:extLst xmlns:a="http://schemas.openxmlformats.org/drawingml/2006/main">
              <a:ext uri="{FF2B5EF4-FFF2-40B4-BE49-F238E27FC236}">
                <a16:creationId xmlns:a16="http://schemas.microsoft.com/office/drawing/2014/main" id="{8051BAF2-02B1-4D0A-9EEC-115B88431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595168"/>
            <a:ext cx="1216670" cy="3734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28" b="1" spc="83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defPPr>
          </a:lstStyle>
          <a:p xmlns:a="http://schemas.openxmlformats.org/drawingml/2006/main">
            <a:pPr algn="l">
              <a:defRPr sz="2228" b="1" spc="83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pPr>
            <a:r>
              <a:rPr sz="2228" b="1" spc="83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rPr>
              <a:t>SDLCAI</a:t>
            </a:r>
          </a:p>
        </p:txBody>
      </p:sp>
      <p:sp>
        <p:nvSpPr>
          <p:cNvPr id="3" name="hallway-track-span-2">
            <a:extLst xmlns:a="http://schemas.openxmlformats.org/drawingml/2006/main">
              <a:ext uri="{FF2B5EF4-FFF2-40B4-BE49-F238E27FC236}">
                <a16:creationId xmlns:a16="http://schemas.microsoft.com/office/drawing/2014/main" id="{76B0074A-C33D-4F30-A802-771241656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80853" y="662117"/>
            <a:ext cx="3012877" cy="230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rPr>
              <a:t>13 OCTOBER 2026 / MARSIO</a:t>
            </a:r>
          </a:p>
        </p:txBody>
      </p:sp>
      <p:sp>
        <p:nvSpPr>
          <p:cNvPr id="4" name="hallway-track-h1-3">
            <a:extLst xmlns:a="http://schemas.openxmlformats.org/drawingml/2006/main">
              <a:ext uri="{FF2B5EF4-FFF2-40B4-BE49-F238E27FC236}">
                <a16:creationId xmlns:a16="http://schemas.microsoft.com/office/drawing/2014/main" id="{8178584A-09D1-464D-B054-285FEEFA4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3228482"/>
            <a:ext cx="7109817" cy="23066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759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defPPr>
          </a:lstStyle>
          <a:p xmlns:a="http://schemas.openxmlformats.org/drawingml/2006/main">
            <a:pPr algn="l">
              <a:defRPr sz="13759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pPr>
            <a:r>
              <a:rPr sz="13759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rPr>
              <a:t>HALLWAY</a:t>
            </a:r>
          </a:p>
        </p:txBody>
      </p:sp>
      <p:sp>
        <p:nvSpPr>
          <p:cNvPr id="5" name="hallway-track-h1-4">
            <a:extLst xmlns:a="http://schemas.openxmlformats.org/drawingml/2006/main">
              <a:ext uri="{FF2B5EF4-FFF2-40B4-BE49-F238E27FC236}">
                <a16:creationId xmlns:a16="http://schemas.microsoft.com/office/drawing/2014/main" id="{D0881B9B-DEB9-4A4E-A1A9-7302872A5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4888362"/>
            <a:ext cx="5399187" cy="23066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759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defPPr>
          </a:lstStyle>
          <a:p xmlns:a="http://schemas.openxmlformats.org/drawingml/2006/main">
            <a:pPr algn="l">
              <a:defRPr sz="13759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pPr>
            <a:r>
              <a:rPr sz="13759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rPr>
              <a:t>TRACK</a:t>
            </a:r>
          </a:p>
        </p:txBody>
      </p:sp>
      <p:sp>
        <p:nvSpPr>
          <p:cNvPr id="6" name="hallway-track-p-5">
            <a:extLst xmlns:a="http://schemas.openxmlformats.org/drawingml/2006/main">
              <a:ext uri="{FF2B5EF4-FFF2-40B4-BE49-F238E27FC236}">
                <a16:creationId xmlns:a16="http://schemas.microsoft.com/office/drawing/2014/main" id="{B5B7F19B-EA4E-4F14-BE26-C95601BFC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54270" y="3933753"/>
            <a:ext cx="4640907" cy="681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4062" b="0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4062" b="0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4062" b="0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rPr>
              <a:t>The conversations</a:t>
            </a:r>
          </a:p>
        </p:txBody>
      </p:sp>
      <p:sp>
        <p:nvSpPr>
          <p:cNvPr id="7" name="hallway-track-p-6">
            <a:extLst xmlns:a="http://schemas.openxmlformats.org/drawingml/2006/main">
              <a:ext uri="{FF2B5EF4-FFF2-40B4-BE49-F238E27FC236}">
                <a16:creationId xmlns:a16="http://schemas.microsoft.com/office/drawing/2014/main" id="{A0BF006C-390C-4494-A359-08C02D064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54270" y="4542311"/>
            <a:ext cx="4695676" cy="681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4062" b="0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4062" b="0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4062" b="0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rPr>
              <a:t>between the talks.</a:t>
            </a:r>
          </a:p>
        </p:txBody>
      </p:sp>
      <p:sp>
        <p:nvSpPr>
          <p:cNvPr id="8" name="hallway-track-p-7">
            <a:extLst xmlns:a="http://schemas.openxmlformats.org/drawingml/2006/main">
              <a:ext uri="{FF2B5EF4-FFF2-40B4-BE49-F238E27FC236}">
                <a16:creationId xmlns:a16="http://schemas.microsoft.com/office/drawing/2014/main" id="{EA6D4F5A-D13A-4CC6-BDFD-2832696C0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54270" y="5523839"/>
            <a:ext cx="3387328" cy="4393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621" b="0" spc="0" kern="0">
                <a:solidFill>
                  <a:srgbClr val="B3B2A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2621" b="0" spc="0" kern="0">
                <a:solidFill>
                  <a:srgbClr val="B3B2A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2621" b="0" spc="0" kern="0">
                <a:solidFill>
                  <a:srgbClr val="B3B2AE"/>
                </a:solidFill>
                <a:latin typeface="Finlandica Text"/>
                <a:ea typeface="Finlandica Text"/>
                <a:cs typeface="Finlandica Text"/>
              </a:rPr>
              <a:t>Meet someone new.</a:t>
            </a:r>
          </a:p>
        </p:txBody>
      </p:sp>
      <p:sp>
        <p:nvSpPr>
          <p:cNvPr id="9" name="hallway-track-p-8">
            <a:extLst xmlns:a="http://schemas.openxmlformats.org/drawingml/2006/main">
              <a:ext uri="{FF2B5EF4-FFF2-40B4-BE49-F238E27FC236}">
                <a16:creationId xmlns:a16="http://schemas.microsoft.com/office/drawing/2014/main" id="{15D7322E-F36A-48D9-BA68-64CFEC1B6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54270" y="5973002"/>
            <a:ext cx="5419427" cy="4393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621" b="0" spc="0" kern="0">
                <a:solidFill>
                  <a:srgbClr val="B3B2A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2621" b="0" spc="0" kern="0">
                <a:solidFill>
                  <a:srgbClr val="B3B2A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2621" b="0" spc="0" kern="0">
                <a:solidFill>
                  <a:srgbClr val="B3B2AE"/>
                </a:solidFill>
                <a:latin typeface="Finlandica Text"/>
                <a:ea typeface="Finlandica Text"/>
                <a:cs typeface="Finlandica Text"/>
              </a:rPr>
              <a:t>Compare notes. Visit the posters.</a:t>
            </a:r>
          </a:p>
        </p:txBody>
      </p:sp>
      <p:sp>
        <p:nvSpPr>
          <p:cNvPr id="10" name="hallway-track-span-9">
            <a:extLst xmlns:a="http://schemas.openxmlformats.org/drawingml/2006/main">
              <a:ext uri="{FF2B5EF4-FFF2-40B4-BE49-F238E27FC236}">
                <a16:creationId xmlns:a16="http://schemas.microsoft.com/office/drawing/2014/main" id="{115E3659-07DE-4276-9906-B4C969661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9440446"/>
            <a:ext cx="1700808" cy="230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rPr>
              <a:t>AI MEETS SDLC</a:t>
            </a:r>
          </a:p>
        </p:txBody>
      </p:sp>
      <p:sp>
        <p:nvSpPr>
          <p:cNvPr id="11" name="hallway-track-span-10">
            <a:extLst xmlns:a="http://schemas.openxmlformats.org/drawingml/2006/main">
              <a:ext uri="{FF2B5EF4-FFF2-40B4-BE49-F238E27FC236}">
                <a16:creationId xmlns:a16="http://schemas.microsoft.com/office/drawing/2014/main" id="{B695C407-44EB-4661-A172-11D88E438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03898" y="9440446"/>
            <a:ext cx="789831" cy="230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rPr>
              <a:t>7 / 12</a:t>
            </a:r>
          </a:p>
        </p:txBody>
      </p:sp>
    </p:spTree>
    <p:extLst>
      <p:ext uri="{BB962C8B-B14F-4D97-AF65-F5344CB8AC3E}">
        <p14:creationId xmlns:p14="http://schemas.microsoft.com/office/powerpoint/2010/main" val="7960072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8080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AA9006-CAFE-420B-A392-A88D5B852BE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6ecaeeb833447b"/>
          <a:stretch xmlns:a="http://schemas.openxmlformats.org/drawingml/2006/main"/>
        </p:blipFill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</p:spPr>
      </p:pic>
      <p:sp>
        <p:nvSpPr>
          <p:cNvPr id="2" name="pacman-rule-span-1">
            <a:extLst xmlns:a="http://schemas.openxmlformats.org/drawingml/2006/main">
              <a:ext uri="{FF2B5EF4-FFF2-40B4-BE49-F238E27FC236}">
                <a16:creationId xmlns:a16="http://schemas.microsoft.com/office/drawing/2014/main" id="{81D974E6-4C7B-4716-82CB-A91320317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595168"/>
            <a:ext cx="1216670" cy="3734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28" b="1" spc="83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defPPr>
          </a:lstStyle>
          <a:p xmlns:a="http://schemas.openxmlformats.org/drawingml/2006/main">
            <a:pPr algn="l">
              <a:defRPr sz="2228" b="1" spc="83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pPr>
            <a:r>
              <a:rPr sz="2228" b="1" spc="83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rPr>
              <a:t>SDLCAI</a:t>
            </a:r>
          </a:p>
        </p:txBody>
      </p:sp>
      <p:sp>
        <p:nvSpPr>
          <p:cNvPr id="3" name="pacman-rule-span-2">
            <a:extLst xmlns:a="http://schemas.openxmlformats.org/drawingml/2006/main">
              <a:ext uri="{FF2B5EF4-FFF2-40B4-BE49-F238E27FC236}">
                <a16:creationId xmlns:a16="http://schemas.microsoft.com/office/drawing/2014/main" id="{1C368EA5-2658-4E30-B1E3-F35B6DB5C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80853" y="662117"/>
            <a:ext cx="3012877" cy="230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rPr>
              <a:t>13 OCTOBER 2026 / MARSIO</a:t>
            </a:r>
          </a:p>
        </p:txBody>
      </p:sp>
      <p:sp>
        <p:nvSpPr>
          <p:cNvPr id="4" name="pacman-rule-h1-3">
            <a:extLst xmlns:a="http://schemas.openxmlformats.org/drawingml/2006/main">
              <a:ext uri="{FF2B5EF4-FFF2-40B4-BE49-F238E27FC236}">
                <a16:creationId xmlns:a16="http://schemas.microsoft.com/office/drawing/2014/main" id="{BDEDD143-8C31-4637-91E8-4CA3BBD6B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2550406"/>
            <a:ext cx="6531471" cy="14279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8518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defPPr>
          </a:lstStyle>
          <a:p xmlns:a="http://schemas.openxmlformats.org/drawingml/2006/main">
            <a:pPr algn="l">
              <a:defRPr sz="8518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pPr>
            <a:r>
              <a:rPr sz="8518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rPr>
              <a:t>THE PACMAN</a:t>
            </a:r>
          </a:p>
        </p:txBody>
      </p:sp>
      <p:sp>
        <p:nvSpPr>
          <p:cNvPr id="5" name="pacman-rule-h1-4">
            <a:extLst xmlns:a="http://schemas.openxmlformats.org/drawingml/2006/main">
              <a:ext uri="{FF2B5EF4-FFF2-40B4-BE49-F238E27FC236}">
                <a16:creationId xmlns:a16="http://schemas.microsoft.com/office/drawing/2014/main" id="{533DD67D-A2F0-4FE7-9872-172F20C3F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3577915"/>
            <a:ext cx="2683966" cy="14279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8518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defPPr>
          </a:lstStyle>
          <a:p xmlns:a="http://schemas.openxmlformats.org/drawingml/2006/main">
            <a:pPr algn="l">
              <a:defRPr sz="8518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pPr>
            <a:r>
              <a:rPr sz="8518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rPr>
              <a:t>RULE</a:t>
            </a:r>
          </a:p>
        </p:txBody>
      </p:sp>
      <p:sp>
        <p:nvSpPr>
          <p:cNvPr id="6" name="pacman-rule-p-5">
            <a:extLst xmlns:a="http://schemas.openxmlformats.org/drawingml/2006/main">
              <a:ext uri="{FF2B5EF4-FFF2-40B4-BE49-F238E27FC236}">
                <a16:creationId xmlns:a16="http://schemas.microsoft.com/office/drawing/2014/main" id="{FC6EF10F-2087-4D11-A7FD-A11420265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5160990"/>
            <a:ext cx="3098006" cy="681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4062" b="0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4062" b="0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4062" b="0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rPr>
              <a:t>Leave a gap</a:t>
            </a:r>
          </a:p>
        </p:txBody>
      </p:sp>
      <p:sp>
        <p:nvSpPr>
          <p:cNvPr id="7" name="pacman-rule-p-6">
            <a:extLst xmlns:a="http://schemas.openxmlformats.org/drawingml/2006/main">
              <a:ext uri="{FF2B5EF4-FFF2-40B4-BE49-F238E27FC236}">
                <a16:creationId xmlns:a16="http://schemas.microsoft.com/office/drawing/2014/main" id="{5700F659-A133-4B52-9095-B787851BC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5769548"/>
            <a:ext cx="3391942" cy="681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4062" b="0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4062" b="0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4062" b="0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rPr>
              <a:t>in your circle.</a:t>
            </a:r>
          </a:p>
        </p:txBody>
      </p:sp>
      <p:sp>
        <p:nvSpPr>
          <p:cNvPr id="8" name="pacman-rule-p-7">
            <a:extLst xmlns:a="http://schemas.openxmlformats.org/drawingml/2006/main">
              <a:ext uri="{FF2B5EF4-FFF2-40B4-BE49-F238E27FC236}">
                <a16:creationId xmlns:a16="http://schemas.microsoft.com/office/drawing/2014/main" id="{E34DA153-FA32-4F07-872F-3C97BF2B2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6751076"/>
            <a:ext cx="4241899" cy="4393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621" b="0" spc="0" kern="0">
                <a:solidFill>
                  <a:srgbClr val="B3B2A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2621" b="0" spc="0" kern="0">
                <a:solidFill>
                  <a:srgbClr val="B3B2A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2621" b="0" spc="0" kern="0">
                <a:solidFill>
                  <a:srgbClr val="B3B2AE"/>
                </a:solidFill>
                <a:latin typeface="Finlandica Text"/>
                <a:ea typeface="Finlandica Text"/>
                <a:cs typeface="Finlandica Text"/>
              </a:rPr>
              <a:t>Make it easy for someone</a:t>
            </a:r>
          </a:p>
        </p:txBody>
      </p:sp>
      <p:sp>
        <p:nvSpPr>
          <p:cNvPr id="9" name="pacman-rule-p-8">
            <a:extLst xmlns:a="http://schemas.openxmlformats.org/drawingml/2006/main">
              <a:ext uri="{FF2B5EF4-FFF2-40B4-BE49-F238E27FC236}">
                <a16:creationId xmlns:a16="http://schemas.microsoft.com/office/drawing/2014/main" id="{3BB95C88-4B33-4442-A1DF-4D0906146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7200239"/>
            <a:ext cx="4713238" cy="4393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621" b="0" spc="0" kern="0">
                <a:solidFill>
                  <a:srgbClr val="B3B2A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2621" b="0" spc="0" kern="0">
                <a:solidFill>
                  <a:srgbClr val="B3B2A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2621" b="0" spc="0" kern="0">
                <a:solidFill>
                  <a:srgbClr val="B3B2AE"/>
                </a:solidFill>
                <a:latin typeface="Finlandica Text"/>
                <a:ea typeface="Finlandica Text"/>
                <a:cs typeface="Finlandica Text"/>
              </a:rPr>
              <a:t>new to join the conversation.</a:t>
            </a:r>
          </a:p>
        </p:txBody>
      </p:sp>
      <p:sp>
        <p:nvSpPr>
          <p:cNvPr id="10" name="pacman-rule-span-9">
            <a:extLst xmlns:a="http://schemas.openxmlformats.org/drawingml/2006/main">
              <a:ext uri="{FF2B5EF4-FFF2-40B4-BE49-F238E27FC236}">
                <a16:creationId xmlns:a16="http://schemas.microsoft.com/office/drawing/2014/main" id="{1DF5DDB5-5A3A-4848-8E39-3EC024883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9440446"/>
            <a:ext cx="1700808" cy="230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rPr>
              <a:t>AI MEETS SDLC</a:t>
            </a:r>
          </a:p>
        </p:txBody>
      </p:sp>
      <p:sp>
        <p:nvSpPr>
          <p:cNvPr id="11" name="pacman-rule-span-10">
            <a:extLst xmlns:a="http://schemas.openxmlformats.org/drawingml/2006/main">
              <a:ext uri="{FF2B5EF4-FFF2-40B4-BE49-F238E27FC236}">
                <a16:creationId xmlns:a16="http://schemas.microsoft.com/office/drawing/2014/main" id="{E4D5D7D1-7819-4996-B728-B4B3777BE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99731" y="9440446"/>
            <a:ext cx="793998" cy="230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rPr>
              <a:t>8 / 12</a:t>
            </a:r>
          </a:p>
        </p:txBody>
      </p:sp>
    </p:spTree>
    <p:extLst>
      <p:ext uri="{BB962C8B-B14F-4D97-AF65-F5344CB8AC3E}">
        <p14:creationId xmlns:p14="http://schemas.microsoft.com/office/powerpoint/2010/main" val="124451675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8080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E5302E-EFC8-429D-B59F-8177CE913CC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babbd6edda4efb"/>
          <a:stretch xmlns:a="http://schemas.openxmlformats.org/drawingml/2006/main"/>
        </p:blipFill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</p:spPr>
      </p:pic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7D71CA-4A83-452A-A9F7-14890702324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760fa5e0464c5f"/>
          <a:stretch xmlns:a="http://schemas.openxmlformats.org/drawingml/2006/main"/>
        </p:blipFill>
        <p:spPr>
          <a:xfrm xmlns:a="http://schemas.openxmlformats.org/drawingml/2006/main">
            <a:off x="11384161" y="2157115"/>
            <a:ext cx="6080968" cy="6080968"/>
          </a:xfrm>
          <a:prstGeom xmlns:a="http://schemas.openxmlformats.org/drawingml/2006/main" prst="rect">
            <a:avLst/>
          </a:prstGeom>
        </p:spPr>
      </p:pic>
      <p:sp>
        <p:nvSpPr>
          <p:cNvPr id="3" name="questions-span-1">
            <a:extLst xmlns:a="http://schemas.openxmlformats.org/drawingml/2006/main">
              <a:ext uri="{FF2B5EF4-FFF2-40B4-BE49-F238E27FC236}">
                <a16:creationId xmlns:a16="http://schemas.microsoft.com/office/drawing/2014/main" id="{3D635EFB-E2DC-4CCF-B0BA-740646D81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595168"/>
            <a:ext cx="1216670" cy="3734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28" b="1" spc="83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defPPr>
          </a:lstStyle>
          <a:p xmlns:a="http://schemas.openxmlformats.org/drawingml/2006/main">
            <a:pPr algn="l">
              <a:defRPr sz="2228" b="1" spc="83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pPr>
            <a:r>
              <a:rPr sz="2228" b="1" spc="83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rPr>
              <a:t>SDLCAI</a:t>
            </a:r>
          </a:p>
        </p:txBody>
      </p:sp>
      <p:sp>
        <p:nvSpPr>
          <p:cNvPr id="4" name="questions-span-2">
            <a:extLst xmlns:a="http://schemas.openxmlformats.org/drawingml/2006/main">
              <a:ext uri="{FF2B5EF4-FFF2-40B4-BE49-F238E27FC236}">
                <a16:creationId xmlns:a16="http://schemas.microsoft.com/office/drawing/2014/main" id="{0A26FCE7-ECC8-4EE0-8F64-1E110055A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80853" y="662117"/>
            <a:ext cx="3012877" cy="230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rPr>
              <a:t>13 OCTOBER 2026 / MARSIO</a:t>
            </a:r>
          </a:p>
        </p:txBody>
      </p:sp>
      <p:sp>
        <p:nvSpPr>
          <p:cNvPr id="5" name="questions-h1-3">
            <a:extLst xmlns:a="http://schemas.openxmlformats.org/drawingml/2006/main">
              <a:ext uri="{FF2B5EF4-FFF2-40B4-BE49-F238E27FC236}">
                <a16:creationId xmlns:a16="http://schemas.microsoft.com/office/drawing/2014/main" id="{21D8F3B4-DE20-4BFB-8516-A32D880E0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2903813"/>
            <a:ext cx="7267873" cy="16256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697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defPPr>
          </a:lstStyle>
          <a:p xmlns:a="http://schemas.openxmlformats.org/drawingml/2006/main">
            <a:pPr algn="l">
              <a:defRPr sz="9697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pPr>
            <a:r>
              <a:rPr sz="9697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rPr>
              <a:t>QUESTIONS?</a:t>
            </a:r>
          </a:p>
        </p:txBody>
      </p:sp>
      <p:sp>
        <p:nvSpPr>
          <p:cNvPr id="6" name="questions-p-4">
            <a:extLst xmlns:a="http://schemas.openxmlformats.org/drawingml/2006/main">
              <a:ext uri="{FF2B5EF4-FFF2-40B4-BE49-F238E27FC236}">
                <a16:creationId xmlns:a16="http://schemas.microsoft.com/office/drawing/2014/main" id="{3C541A0B-F9B6-469D-9A44-C3A32AFB7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4664691"/>
            <a:ext cx="3353991" cy="5931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538" b="0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3538" b="0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3538" b="0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rPr>
              <a:t>Ask questions.</a:t>
            </a:r>
          </a:p>
        </p:txBody>
      </p:sp>
      <p:sp>
        <p:nvSpPr>
          <p:cNvPr id="7" name="questions-p-5">
            <a:extLst xmlns:a="http://schemas.openxmlformats.org/drawingml/2006/main">
              <a:ext uri="{FF2B5EF4-FFF2-40B4-BE49-F238E27FC236}">
                <a16:creationId xmlns:a16="http://schemas.microsoft.com/office/drawing/2014/main" id="{5BD63278-2AA8-40E0-81D3-5B8005BC1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5194817"/>
            <a:ext cx="8190161" cy="5931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538" b="0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3538" b="0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3538" b="0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rPr>
              <a:t>Vote for the ones you want answered.</a:t>
            </a:r>
          </a:p>
        </p:txBody>
      </p:sp>
      <p:sp>
        <p:nvSpPr>
          <p:cNvPr id="8" name="questions-a-6">
            <a:extLst xmlns:a="http://schemas.openxmlformats.org/drawingml/2006/main">
              <a:ext uri="{FF2B5EF4-FFF2-40B4-BE49-F238E27FC236}">
                <a16:creationId xmlns:a16="http://schemas.microsoft.com/office/drawing/2014/main" id="{3310280C-68B9-4BDF-A416-1845047A5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6096429"/>
            <a:ext cx="6363444" cy="13400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7994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defPPr>
          </a:lstStyle>
          <a:p xmlns:a="http://schemas.openxmlformats.org/drawingml/2006/main">
            <a:pPr algn="l">
              <a:defRPr sz="7994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pPr>
            <a:r>
              <a:rPr sz="7994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  <a:hlinkClick xmlns:r="http://schemas.openxmlformats.org/officeDocument/2006/relationships" r:id="Re873357e9b404b49"/>
              </a:rPr>
              <a:t>sdlcai.org/qa</a:t>
            </a:r>
          </a:p>
        </p:txBody>
      </p:sp>
      <p:sp>
        <p:nvSpPr>
          <p:cNvPr id="9" name="questions-span-7">
            <a:extLst xmlns:a="http://schemas.openxmlformats.org/drawingml/2006/main">
              <a:ext uri="{FF2B5EF4-FFF2-40B4-BE49-F238E27FC236}">
                <a16:creationId xmlns:a16="http://schemas.microsoft.com/office/drawing/2014/main" id="{27983BE4-082C-4155-B6CD-0B0A0A930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9440446"/>
            <a:ext cx="1700808" cy="230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rPr>
              <a:t>AI MEETS SDLC</a:t>
            </a:r>
          </a:p>
        </p:txBody>
      </p:sp>
      <p:sp>
        <p:nvSpPr>
          <p:cNvPr id="10" name="questions-span-8">
            <a:extLst xmlns:a="http://schemas.openxmlformats.org/drawingml/2006/main">
              <a:ext uri="{FF2B5EF4-FFF2-40B4-BE49-F238E27FC236}">
                <a16:creationId xmlns:a16="http://schemas.microsoft.com/office/drawing/2014/main" id="{82501DCD-DDA6-49F8-8AC3-72E6D762D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01815" y="9440446"/>
            <a:ext cx="791914" cy="230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rPr>
              <a:t>9 / 12</a:t>
            </a:r>
          </a:p>
        </p:txBody>
      </p:sp>
    </p:spTree>
    <p:extLst>
      <p:ext uri="{BB962C8B-B14F-4D97-AF65-F5344CB8AC3E}">
        <p14:creationId xmlns:p14="http://schemas.microsoft.com/office/powerpoint/2010/main" val="123638631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8080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E1E480-21E7-4543-9324-3FB3B181373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a95336b43f4ba8"/>
          <a:stretch xmlns:a="http://schemas.openxmlformats.org/drawingml/2006/main"/>
        </p:blipFill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</p:spPr>
      </p:pic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F2A8E3-1A57-410C-A862-77FEBF456AB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3fca87d02e4c8b"/>
          <a:stretch xmlns:a="http://schemas.openxmlformats.org/drawingml/2006/main"/>
        </p:blipFill>
        <p:spPr>
          <a:xfrm xmlns:a="http://schemas.openxmlformats.org/drawingml/2006/main">
            <a:off x="984578" y="4166592"/>
            <a:ext cx="7664934" cy="1897261"/>
          </a:xfrm>
          <a:prstGeom xmlns:a="http://schemas.openxmlformats.org/drawingml/2006/main" prst="rect">
            <a:avLst/>
          </a:prstGeom>
        </p:spPr>
      </p:pic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84C1A1-25B9-4781-95FE-6FD6535A3C0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ba9593c2fa4a51"/>
          <a:stretch xmlns:a="http://schemas.openxmlformats.org/drawingml/2006/main"/>
        </p:blipFill>
        <p:spPr>
          <a:xfrm xmlns:a="http://schemas.openxmlformats.org/drawingml/2006/main">
            <a:off x="9691072" y="4216450"/>
            <a:ext cx="3448984" cy="582662"/>
          </a:xfrm>
          <a:prstGeom xmlns:a="http://schemas.openxmlformats.org/drawingml/2006/main" prst="rect">
            <a:avLst/>
          </a:prstGeom>
        </p:spPr>
      </p:pic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E51316-3E73-4EAD-BADB-20AA4B35C27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459fceffe04608"/>
          <a:stretch xmlns:a="http://schemas.openxmlformats.org/drawingml/2006/main"/>
        </p:blipFill>
        <p:spPr>
          <a:xfrm xmlns:a="http://schemas.openxmlformats.org/drawingml/2006/main">
            <a:off x="13806255" y="4216450"/>
            <a:ext cx="3439586" cy="582662"/>
          </a:xfrm>
          <a:prstGeom xmlns:a="http://schemas.openxmlformats.org/drawingml/2006/main" prst="rect">
            <a:avLst/>
          </a:prstGeom>
        </p:spPr>
      </p:pic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C2949A-ACD5-4BB9-84DE-117B1225C98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b787120987428c"/>
          <a:stretch xmlns:a="http://schemas.openxmlformats.org/drawingml/2006/main"/>
        </p:blipFill>
        <p:spPr>
          <a:xfrm xmlns:a="http://schemas.openxmlformats.org/drawingml/2006/main">
            <a:off x="9691072" y="5431185"/>
            <a:ext cx="3448984" cy="582662"/>
          </a:xfrm>
          <a:prstGeom xmlns:a="http://schemas.openxmlformats.org/drawingml/2006/main" prst="rect">
            <a:avLst/>
          </a:prstGeom>
        </p:spPr>
      </p:pic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88C2E7-B6F3-4929-A0B0-6BF3C8F24E2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963811301d4822"/>
          <a:stretch xmlns:a="http://schemas.openxmlformats.org/drawingml/2006/main"/>
        </p:blipFill>
        <p:spPr>
          <a:xfrm xmlns:a="http://schemas.openxmlformats.org/drawingml/2006/main">
            <a:off x="13806255" y="5431185"/>
            <a:ext cx="3439586" cy="582662"/>
          </a:xfrm>
          <a:prstGeom xmlns:a="http://schemas.openxmlformats.org/drawingml/2006/main" prst="rect">
            <a:avLst/>
          </a:prstGeom>
        </p:spPr>
      </p:pic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784B88-7E51-47CF-8392-258D34C4493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036e9074dd406c"/>
          <a:stretch xmlns:a="http://schemas.openxmlformats.org/drawingml/2006/main"/>
        </p:blipFill>
        <p:spPr>
          <a:xfrm xmlns:a="http://schemas.openxmlformats.org/drawingml/2006/main">
            <a:off x="1049111" y="7178576"/>
            <a:ext cx="3375230" cy="682526"/>
          </a:xfrm>
          <a:prstGeom xmlns:a="http://schemas.openxmlformats.org/drawingml/2006/main" prst="rect">
            <a:avLst/>
          </a:prstGeom>
        </p:spPr>
      </p:pic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ECEDA6-A5F4-4CD9-9C75-0DF4B1BE440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57ce34b055416f"/>
          <a:stretch xmlns:a="http://schemas.openxmlformats.org/drawingml/2006/main"/>
        </p:blipFill>
        <p:spPr>
          <a:xfrm xmlns:a="http://schemas.openxmlformats.org/drawingml/2006/main">
            <a:off x="9607694" y="7095381"/>
            <a:ext cx="1735146" cy="848916"/>
          </a:xfrm>
          <a:prstGeom xmlns:a="http://schemas.openxmlformats.org/drawingml/2006/main" prst="rect">
            <a:avLst/>
          </a:prstGeom>
        </p:spPr>
      </p:pic>
      <p:sp>
        <p:nvSpPr>
          <p:cNvPr id="9" name="sponsors-span-1">
            <a:extLst xmlns:a="http://schemas.openxmlformats.org/drawingml/2006/main">
              <a:ext uri="{FF2B5EF4-FFF2-40B4-BE49-F238E27FC236}">
                <a16:creationId xmlns:a16="http://schemas.microsoft.com/office/drawing/2014/main" id="{5779705D-D03E-4BE8-93A5-22ADF8809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595168"/>
            <a:ext cx="1216670" cy="3734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28" b="1" spc="83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defPPr>
          </a:lstStyle>
          <a:p xmlns:a="http://schemas.openxmlformats.org/drawingml/2006/main">
            <a:pPr algn="l">
              <a:defRPr sz="2228" b="1" spc="83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pPr>
            <a:r>
              <a:rPr sz="2228" b="1" spc="83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rPr>
              <a:t>SDLCAI</a:t>
            </a:r>
          </a:p>
        </p:txBody>
      </p:sp>
      <p:sp>
        <p:nvSpPr>
          <p:cNvPr id="10" name="sponsors-span-2">
            <a:extLst xmlns:a="http://schemas.openxmlformats.org/drawingml/2006/main">
              <a:ext uri="{FF2B5EF4-FFF2-40B4-BE49-F238E27FC236}">
                <a16:creationId xmlns:a16="http://schemas.microsoft.com/office/drawing/2014/main" id="{C3373BD2-7C65-4BD9-BCD6-D18F4DD05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80853" y="662117"/>
            <a:ext cx="3012877" cy="230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rPr>
              <a:t>13 OCTOBER 2026 / MARSIO</a:t>
            </a:r>
          </a:p>
        </p:txBody>
      </p:sp>
      <p:sp>
        <p:nvSpPr>
          <p:cNvPr id="11" name="sponsors-h1-3">
            <a:extLst xmlns:a="http://schemas.openxmlformats.org/drawingml/2006/main">
              <a:ext uri="{FF2B5EF4-FFF2-40B4-BE49-F238E27FC236}">
                <a16:creationId xmlns:a16="http://schemas.microsoft.com/office/drawing/2014/main" id="{A6CDA669-6DEE-4DFA-903A-74E82505D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2159839"/>
            <a:ext cx="10568583" cy="12741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7600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defPPr>
          </a:lstStyle>
          <a:p xmlns:a="http://schemas.openxmlformats.org/drawingml/2006/main">
            <a:pPr algn="l">
              <a:defRPr sz="7600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pPr>
            <a:r>
              <a:rPr sz="7600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rPr>
              <a:t>THANK YOU, SPONSORS</a:t>
            </a:r>
          </a:p>
        </p:txBody>
      </p:sp>
      <p:sp>
        <p:nvSpPr>
          <p:cNvPr id="12" name="sponsors-h2-4">
            <a:extLst xmlns:a="http://schemas.openxmlformats.org/drawingml/2006/main">
              <a:ext uri="{FF2B5EF4-FFF2-40B4-BE49-F238E27FC236}">
                <a16:creationId xmlns:a16="http://schemas.microsoft.com/office/drawing/2014/main" id="{2EE1D4EB-5971-4B7E-B199-3C12D3616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3603596"/>
            <a:ext cx="1761381" cy="2636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72" b="1" spc="0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1572" b="1" spc="0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1572" b="1" spc="0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rPr>
              <a:t>EPIC SPONSOR</a:t>
            </a:r>
          </a:p>
        </p:txBody>
      </p:sp>
      <p:sp>
        <p:nvSpPr>
          <p:cNvPr id="13" name="sponsors-h2-5">
            <a:extLst xmlns:a="http://schemas.openxmlformats.org/drawingml/2006/main">
              <a:ext uri="{FF2B5EF4-FFF2-40B4-BE49-F238E27FC236}">
                <a16:creationId xmlns:a16="http://schemas.microsoft.com/office/drawing/2014/main" id="{F710A71E-B505-4376-A16D-573369334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6780" y="3603596"/>
            <a:ext cx="1956197" cy="2636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72" b="1" spc="0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1572" b="1" spc="0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1572" b="1" spc="0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rPr>
              <a:t>TECH SPONSORS</a:t>
            </a:r>
          </a:p>
        </p:txBody>
      </p:sp>
      <p:sp>
        <p:nvSpPr>
          <p:cNvPr id="14" name="sponsors-h2-6">
            <a:extLst xmlns:a="http://schemas.openxmlformats.org/drawingml/2006/main">
              <a:ext uri="{FF2B5EF4-FFF2-40B4-BE49-F238E27FC236}">
                <a16:creationId xmlns:a16="http://schemas.microsoft.com/office/drawing/2014/main" id="{39BA92D8-FC00-4D94-8941-791B03170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6565722"/>
            <a:ext cx="2042220" cy="2636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72" b="1" spc="0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1572" b="1" spc="0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1572" b="1" spc="0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rPr>
              <a:t>BRAND SPONSOR</a:t>
            </a:r>
          </a:p>
        </p:txBody>
      </p:sp>
      <p:sp>
        <p:nvSpPr>
          <p:cNvPr id="15" name="sponsors-h2-7">
            <a:extLst xmlns:a="http://schemas.openxmlformats.org/drawingml/2006/main">
              <a:ext uri="{FF2B5EF4-FFF2-40B4-BE49-F238E27FC236}">
                <a16:creationId xmlns:a16="http://schemas.microsoft.com/office/drawing/2014/main" id="{7FBC673C-3BCE-46D6-B6A3-A6A4E8ADA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6780" y="6565722"/>
            <a:ext cx="2335857" cy="2636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72" b="1" spc="0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1572" b="1" spc="0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1572" b="1" spc="0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rPr>
              <a:t>LOCATION SPONSOR</a:t>
            </a:r>
          </a:p>
        </p:txBody>
      </p:sp>
      <p:sp>
        <p:nvSpPr>
          <p:cNvPr id="16" name="sponsors-span-8">
            <a:extLst xmlns:a="http://schemas.openxmlformats.org/drawingml/2006/main">
              <a:ext uri="{FF2B5EF4-FFF2-40B4-BE49-F238E27FC236}">
                <a16:creationId xmlns:a16="http://schemas.microsoft.com/office/drawing/2014/main" id="{A831C00B-A5E7-40F0-82DE-9A9F0C384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9440446"/>
            <a:ext cx="1700808" cy="230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rPr>
              <a:t>AI MEETS SDLC</a:t>
            </a:r>
          </a:p>
        </p:txBody>
      </p:sp>
      <p:sp>
        <p:nvSpPr>
          <p:cNvPr id="17" name="sponsors-span-9">
            <a:extLst xmlns:a="http://schemas.openxmlformats.org/drawingml/2006/main">
              <a:ext uri="{FF2B5EF4-FFF2-40B4-BE49-F238E27FC236}">
                <a16:creationId xmlns:a16="http://schemas.microsoft.com/office/drawing/2014/main" id="{D0AA7FD3-7643-4599-96AC-DB3231315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0194" y="9440446"/>
            <a:ext cx="903536" cy="230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rPr>
              <a:t>10 / 12</a:t>
            </a:r>
          </a:p>
        </p:txBody>
      </p:sp>
    </p:spTree>
    <p:extLst>
      <p:ext uri="{BB962C8B-B14F-4D97-AF65-F5344CB8AC3E}">
        <p14:creationId xmlns:p14="http://schemas.microsoft.com/office/powerpoint/2010/main" val="106906533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8080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E7047B-575D-4246-897C-479090DEA60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3f998882a441d1"/>
          <a:stretch xmlns:a="http://schemas.openxmlformats.org/drawingml/2006/main"/>
        </p:blipFill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</p:spPr>
      </p:pic>
      <p:sp>
        <p:nvSpPr>
          <p:cNvPr id="2" name="code-of-conduct-span-1">
            <a:extLst xmlns:a="http://schemas.openxmlformats.org/drawingml/2006/main">
              <a:ext uri="{FF2B5EF4-FFF2-40B4-BE49-F238E27FC236}">
                <a16:creationId xmlns:a16="http://schemas.microsoft.com/office/drawing/2014/main" id="{58B4B905-5B1B-4398-A6DB-2D87B6C38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595168"/>
            <a:ext cx="1216670" cy="3734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28" b="1" spc="83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defPPr>
          </a:lstStyle>
          <a:p xmlns:a="http://schemas.openxmlformats.org/drawingml/2006/main">
            <a:pPr algn="l">
              <a:defRPr sz="2228" b="1" spc="83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pPr>
            <a:r>
              <a:rPr sz="2228" b="1" spc="83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rPr>
              <a:t>SDLCAI</a:t>
            </a:r>
          </a:p>
        </p:txBody>
      </p:sp>
      <p:sp>
        <p:nvSpPr>
          <p:cNvPr id="3" name="code-of-conduct-span-2">
            <a:extLst xmlns:a="http://schemas.openxmlformats.org/drawingml/2006/main">
              <a:ext uri="{FF2B5EF4-FFF2-40B4-BE49-F238E27FC236}">
                <a16:creationId xmlns:a16="http://schemas.microsoft.com/office/drawing/2014/main" id="{43948FDF-D831-4BD4-8E63-C4B4E0FAB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80853" y="662117"/>
            <a:ext cx="3012877" cy="230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rPr>
              <a:t>13 OCTOBER 2026 / MARSIO</a:t>
            </a:r>
          </a:p>
        </p:txBody>
      </p:sp>
      <p:sp>
        <p:nvSpPr>
          <p:cNvPr id="4" name="code-of-conduct-h1-3">
            <a:extLst xmlns:a="http://schemas.openxmlformats.org/drawingml/2006/main">
              <a:ext uri="{FF2B5EF4-FFF2-40B4-BE49-F238E27FC236}">
                <a16:creationId xmlns:a16="http://schemas.microsoft.com/office/drawing/2014/main" id="{7298817B-B7C6-4625-A1D0-97245A799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2271860"/>
            <a:ext cx="4359027" cy="16036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566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defPPr>
          </a:lstStyle>
          <a:p xmlns:a="http://schemas.openxmlformats.org/drawingml/2006/main">
            <a:pPr algn="l">
              <a:defRPr sz="9566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pPr>
            <a:r>
              <a:rPr sz="9566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rPr>
              <a:t>BERLIN</a:t>
            </a:r>
          </a:p>
        </p:txBody>
      </p:sp>
      <p:sp>
        <p:nvSpPr>
          <p:cNvPr id="5" name="code-of-conduct-h1-4">
            <a:extLst xmlns:a="http://schemas.openxmlformats.org/drawingml/2006/main">
              <a:ext uri="{FF2B5EF4-FFF2-40B4-BE49-F238E27FC236}">
                <a16:creationId xmlns:a16="http://schemas.microsoft.com/office/drawing/2014/main" id="{498545D3-5483-4B75-BF76-C1FEFDC32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3425873"/>
            <a:ext cx="10278814" cy="16036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566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defPPr>
          </a:lstStyle>
          <a:p xmlns:a="http://schemas.openxmlformats.org/drawingml/2006/main">
            <a:pPr algn="l">
              <a:defRPr sz="9566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pPr>
            <a:r>
              <a:rPr sz="9566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rPr>
              <a:t>CODE OF CONDUCT</a:t>
            </a:r>
          </a:p>
        </p:txBody>
      </p:sp>
      <p:sp>
        <p:nvSpPr>
          <p:cNvPr id="6" name="code-of-conduct-p-5">
            <a:extLst xmlns:a="http://schemas.openxmlformats.org/drawingml/2006/main">
              <a:ext uri="{FF2B5EF4-FFF2-40B4-BE49-F238E27FC236}">
                <a16:creationId xmlns:a16="http://schemas.microsoft.com/office/drawing/2014/main" id="{F9AE6EAC-0BBD-47B3-BCD6-B1339BCD2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5087766"/>
            <a:ext cx="4997351" cy="681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4062" b="0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4062" b="0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4062" b="0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rPr>
              <a:t>Respect each other.</a:t>
            </a:r>
          </a:p>
        </p:txBody>
      </p:sp>
      <p:sp>
        <p:nvSpPr>
          <p:cNvPr id="7" name="code-of-conduct-p-6">
            <a:extLst xmlns:a="http://schemas.openxmlformats.org/drawingml/2006/main">
              <a:ext uri="{FF2B5EF4-FFF2-40B4-BE49-F238E27FC236}">
                <a16:creationId xmlns:a16="http://schemas.microsoft.com/office/drawing/2014/main" id="{E7DCCFFE-B048-4640-8CE8-EE704BE29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5696325"/>
            <a:ext cx="8662243" cy="681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4062" b="0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4062" b="0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4062" b="0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rPr>
              <a:t>Help make this a welcoming space.</a:t>
            </a:r>
          </a:p>
        </p:txBody>
      </p:sp>
      <p:sp>
        <p:nvSpPr>
          <p:cNvPr id="8" name="code-of-conduct-p-7">
            <a:extLst xmlns:a="http://schemas.openxmlformats.org/drawingml/2006/main">
              <a:ext uri="{FF2B5EF4-FFF2-40B4-BE49-F238E27FC236}">
                <a16:creationId xmlns:a16="http://schemas.microsoft.com/office/drawing/2014/main" id="{D0A66E75-A8BD-41BC-8C79-7C242B38A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6677852"/>
            <a:ext cx="9451925" cy="4393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621" b="0" spc="0" kern="0">
                <a:solidFill>
                  <a:srgbClr val="B3B2A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2621" b="0" spc="0" kern="0">
                <a:solidFill>
                  <a:srgbClr val="B3B2A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2621" b="0" spc="0" kern="0">
                <a:solidFill>
                  <a:srgbClr val="B3B2AE"/>
                </a:solidFill>
                <a:latin typeface="Finlandica Text"/>
                <a:ea typeface="Finlandica Text"/>
                <a:cs typeface="Finlandica Text"/>
              </a:rPr>
              <a:t>A concern or something wrong? Please talk to an organizer.</a:t>
            </a:r>
          </a:p>
        </p:txBody>
      </p:sp>
      <p:sp>
        <p:nvSpPr>
          <p:cNvPr id="9" name="code-of-conduct-a-8">
            <a:extLst xmlns:a="http://schemas.openxmlformats.org/drawingml/2006/main">
              <a:ext uri="{FF2B5EF4-FFF2-40B4-BE49-F238E27FC236}">
                <a16:creationId xmlns:a16="http://schemas.microsoft.com/office/drawing/2014/main" id="{81F672CD-A13C-4544-AF9F-273A6B3C3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7459795"/>
            <a:ext cx="4596110" cy="4393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621" b="0" u="sng" spc="0" kern="0">
                <a:solidFill>
                  <a:srgbClr val="B3B2A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2621" b="0" u="sng" spc="0" kern="0">
                <a:solidFill>
                  <a:srgbClr val="B3B2A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2621" b="0" u="sng" spc="0" kern="0">
                <a:solidFill>
                  <a:srgbClr val="B3B2AE"/>
                </a:solidFill>
                <a:latin typeface="Finlandica Text"/>
                <a:ea typeface="Finlandica Text"/>
                <a:cs typeface="Finlandica Text"/>
                <a:hlinkClick xmlns:r="http://schemas.openxmlformats.org/officeDocument/2006/relationships" r:id="R02d7ec7ae689462b"/>
              </a:rPr>
              <a:t>berlincodeofconduct.org/en</a:t>
            </a:r>
          </a:p>
        </p:txBody>
      </p:sp>
      <p:sp>
        <p:nvSpPr>
          <p:cNvPr id="10" name="code-of-conduct-span-9">
            <a:extLst xmlns:a="http://schemas.openxmlformats.org/drawingml/2006/main">
              <a:ext uri="{FF2B5EF4-FFF2-40B4-BE49-F238E27FC236}">
                <a16:creationId xmlns:a16="http://schemas.microsoft.com/office/drawing/2014/main" id="{78F51DEE-5A31-477A-B9BF-BAB39C8CE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9440446"/>
            <a:ext cx="1700808" cy="230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rPr>
              <a:t>AI MEETS SDLC</a:t>
            </a:r>
          </a:p>
        </p:txBody>
      </p:sp>
      <p:sp>
        <p:nvSpPr>
          <p:cNvPr id="11" name="code-of-conduct-span-10">
            <a:extLst xmlns:a="http://schemas.openxmlformats.org/drawingml/2006/main">
              <a:ext uri="{FF2B5EF4-FFF2-40B4-BE49-F238E27FC236}">
                <a16:creationId xmlns:a16="http://schemas.microsoft.com/office/drawing/2014/main" id="{218ACAF1-94D2-4B58-ACA1-FBA8FFCB5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31270" y="9440446"/>
            <a:ext cx="862459" cy="230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rPr>
              <a:t>11 / 12</a:t>
            </a:r>
          </a:p>
        </p:txBody>
      </p:sp>
    </p:spTree>
    <p:extLst>
      <p:ext uri="{BB962C8B-B14F-4D97-AF65-F5344CB8AC3E}">
        <p14:creationId xmlns:p14="http://schemas.microsoft.com/office/powerpoint/2010/main" val="190544487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8080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7A01EF-562F-4713-829C-22ACE3793F5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a49714873d49e5"/>
          <a:stretch xmlns:a="http://schemas.openxmlformats.org/drawingml/2006/main"/>
        </p:blipFill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</p:spPr>
      </p:pic>
      <p:sp>
        <p:nvSpPr>
          <p:cNvPr id="2" name="sdlcai-span-1">
            <a:extLst xmlns:a="http://schemas.openxmlformats.org/drawingml/2006/main">
              <a:ext uri="{FF2B5EF4-FFF2-40B4-BE49-F238E27FC236}">
                <a16:creationId xmlns:a16="http://schemas.microsoft.com/office/drawing/2014/main" id="{4744C814-CAFD-4AAE-B0FE-96642B297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595168"/>
            <a:ext cx="1216670" cy="3734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28" b="1" spc="83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defPPr>
          </a:lstStyle>
          <a:p xmlns:a="http://schemas.openxmlformats.org/drawingml/2006/main">
            <a:pPr algn="l">
              <a:defRPr sz="2228" b="1" spc="83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pPr>
            <a:r>
              <a:rPr sz="2228" b="1" spc="83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rPr>
              <a:t>SDLCAI</a:t>
            </a:r>
          </a:p>
        </p:txBody>
      </p:sp>
      <p:sp>
        <p:nvSpPr>
          <p:cNvPr id="3" name="sdlcai-span-2">
            <a:extLst xmlns:a="http://schemas.openxmlformats.org/drawingml/2006/main">
              <a:ext uri="{FF2B5EF4-FFF2-40B4-BE49-F238E27FC236}">
                <a16:creationId xmlns:a16="http://schemas.microsoft.com/office/drawing/2014/main" id="{A794A980-3023-45C1-8B03-F1E7BA1FD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80853" y="662117"/>
            <a:ext cx="3012877" cy="230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rPr>
              <a:t>13 OCTOBER 2026 / MARSIO</a:t>
            </a:r>
          </a:p>
        </p:txBody>
      </p:sp>
      <p:sp>
        <p:nvSpPr>
          <p:cNvPr id="4" name="sdlcai-p-3">
            <a:extLst xmlns:a="http://schemas.openxmlformats.org/drawingml/2006/main">
              <a:ext uri="{FF2B5EF4-FFF2-40B4-BE49-F238E27FC236}">
                <a16:creationId xmlns:a16="http://schemas.microsoft.com/office/drawing/2014/main" id="{A39E9871-29A9-4C40-BC3E-8619FE52E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2988998"/>
            <a:ext cx="3416350" cy="4393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621" b="1" spc="105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2621" b="1" spc="105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2621" b="1" spc="105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rPr>
              <a:t>SHARE YOUR DAY</a:t>
            </a:r>
          </a:p>
        </p:txBody>
      </p:sp>
      <p:sp>
        <p:nvSpPr>
          <p:cNvPr id="5" name="sdlcai-h1-4">
            <a:extLst xmlns:a="http://schemas.openxmlformats.org/drawingml/2006/main">
              <a:ext uri="{FF2B5EF4-FFF2-40B4-BE49-F238E27FC236}">
                <a16:creationId xmlns:a16="http://schemas.microsoft.com/office/drawing/2014/main" id="{037EA43C-9C4C-402C-BB17-499FE08CF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3035021"/>
            <a:ext cx="11264057" cy="41738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898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defPPr>
          </a:lstStyle>
          <a:p xmlns:a="http://schemas.openxmlformats.org/drawingml/2006/main">
            <a:pPr algn="l">
              <a:defRPr sz="24898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pPr>
            <a:r>
              <a:rPr sz="24898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rPr>
              <a:t>#sdlcai</a:t>
            </a:r>
          </a:p>
        </p:txBody>
      </p:sp>
      <p:sp>
        <p:nvSpPr>
          <p:cNvPr id="6" name="sdlcai-p-5">
            <a:extLst xmlns:a="http://schemas.openxmlformats.org/drawingml/2006/main">
              <a:ext uri="{FF2B5EF4-FFF2-40B4-BE49-F238E27FC236}">
                <a16:creationId xmlns:a16="http://schemas.microsoft.com/office/drawing/2014/main" id="{604451C7-FC35-4FCF-A17B-EB16A750D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6729936"/>
            <a:ext cx="9802267" cy="681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4062" b="0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4062" b="0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4062" b="0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rPr>
              <a:t>Ideas. Conversations. New connections.</a:t>
            </a:r>
          </a:p>
        </p:txBody>
      </p:sp>
      <p:sp>
        <p:nvSpPr>
          <p:cNvPr id="7" name="sdlcai-span-6">
            <a:extLst xmlns:a="http://schemas.openxmlformats.org/drawingml/2006/main">
              <a:ext uri="{FF2B5EF4-FFF2-40B4-BE49-F238E27FC236}">
                <a16:creationId xmlns:a16="http://schemas.microsoft.com/office/drawing/2014/main" id="{CE5CDE90-D879-4976-9A4B-41A0542A6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9440446"/>
            <a:ext cx="1700808" cy="230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rPr>
              <a:t>AI MEETS SDLC</a:t>
            </a:r>
          </a:p>
        </p:txBody>
      </p:sp>
      <p:sp>
        <p:nvSpPr>
          <p:cNvPr id="8" name="sdlcai-span-7">
            <a:extLst xmlns:a="http://schemas.openxmlformats.org/drawingml/2006/main">
              <a:ext uri="{FF2B5EF4-FFF2-40B4-BE49-F238E27FC236}">
                <a16:creationId xmlns:a16="http://schemas.microsoft.com/office/drawing/2014/main" id="{05FA8EEA-9C8F-443B-8F29-4CE5F798F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08946" y="9440446"/>
            <a:ext cx="884783" cy="230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rPr>
              <a:t>12 / 12</a:t>
            </a:r>
          </a:p>
        </p:txBody>
      </p:sp>
    </p:spTree>
    <p:extLst>
      <p:ext uri="{BB962C8B-B14F-4D97-AF65-F5344CB8AC3E}">
        <p14:creationId xmlns:p14="http://schemas.microsoft.com/office/powerpoint/2010/main" val="49570986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2026-10-12T11:50:49.6730000Z</dcterms:created>
  <dcterms:modified xsi:type="dcterms:W3CDTF">2026-10-12T11:50:49.6730000Z</dcterms:modified>
</coreProperties>
</file>